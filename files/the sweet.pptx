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1" r:id="rId7"/>
    <p:sldId id="260" r:id="rId8"/>
    <p:sldId id="262" r:id="rId9"/>
    <p:sldId id="263" r:id="rId10"/>
    <p:sldId id="265" r:id="rId11"/>
    <p:sldId id="266"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6" userDrawn="1">
          <p15:clr>
            <a:srgbClr val="A4A3A4"/>
          </p15:clr>
        </p15:guide>
        <p15:guide id="2" pos="383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6"/>
        <p:guide pos="383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幻灯片图像占位符 1"/>
          <p:cNvSpPr>
            <a:spLocks noGrp="1" noRot="1"/>
          </p:cNvSpPr>
          <p:nvPr>
            <p:ph type="sldImg"/>
          </p:nvPr>
        </p:nvSpPr>
        <p:spPr/>
      </p:sp>
      <p:sp>
        <p:nvSpPr>
          <p:cNvPr id="25602" name="文本占位符 2"/>
          <p:cNvSpPr>
            <a:spLocks noGrp="1"/>
          </p:cNvSpPr>
          <p:nvPr>
            <p:ph type="body"/>
          </p:nvPr>
        </p:nvSpPr>
        <p:spPr/>
        <p:txBody>
          <a:bodyPr lIns="91440" tIns="45720" rIns="91440" bIns="45720" anchor="t"/>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幻灯片图像占位符 1"/>
          <p:cNvSpPr>
            <a:spLocks noGrp="1" noRot="1" noChangeAspect="1" noTextEdit="1"/>
          </p:cNvSpPr>
          <p:nvPr>
            <p:ph type="sldImg"/>
          </p:nvPr>
        </p:nvSpPr>
        <p:spPr>
          <a:ln>
            <a:solidFill>
              <a:srgbClr val="000000"/>
            </a:solidFill>
            <a:miter/>
          </a:ln>
        </p:spPr>
      </p:sp>
      <p:sp>
        <p:nvSpPr>
          <p:cNvPr id="1048647"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48"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noTextEdit="1"/>
          </p:cNvSpPr>
          <p:nvPr>
            <p:ph type="sldImg"/>
          </p:nvPr>
        </p:nvSpPr>
        <p:spPr>
          <a:ln>
            <a:solidFill>
              <a:srgbClr val="000000"/>
            </a:solidFill>
            <a:miter/>
          </a:ln>
        </p:spPr>
      </p:sp>
      <p:sp>
        <p:nvSpPr>
          <p:cNvPr id="1048775"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776"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noTextEdit="1"/>
          </p:cNvSpPr>
          <p:nvPr>
            <p:ph type="sldImg"/>
          </p:nvPr>
        </p:nvSpPr>
        <p:spPr>
          <a:ln>
            <a:solidFill>
              <a:srgbClr val="000000"/>
            </a:solidFill>
            <a:miter/>
          </a:ln>
        </p:spPr>
      </p:sp>
      <p:sp>
        <p:nvSpPr>
          <p:cNvPr id="1048775"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776"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noTextEdit="1"/>
          </p:cNvSpPr>
          <p:nvPr>
            <p:ph type="sldImg"/>
          </p:nvPr>
        </p:nvSpPr>
        <p:spPr>
          <a:ln>
            <a:solidFill>
              <a:srgbClr val="000000"/>
            </a:solidFill>
            <a:miter/>
          </a:ln>
        </p:spPr>
      </p:sp>
      <p:sp>
        <p:nvSpPr>
          <p:cNvPr id="1048775"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776"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4" name="幻灯片图像占位符 1"/>
          <p:cNvSpPr>
            <a:spLocks noGrp="1" noRot="1" noChangeAspect="1" noTextEdit="1"/>
          </p:cNvSpPr>
          <p:nvPr>
            <p:ph type="sldImg"/>
          </p:nvPr>
        </p:nvSpPr>
        <p:spPr>
          <a:ln>
            <a:solidFill>
              <a:srgbClr val="000000"/>
            </a:solidFill>
            <a:miter/>
          </a:ln>
        </p:spPr>
      </p:sp>
      <p:sp>
        <p:nvSpPr>
          <p:cNvPr id="1048775"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776"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幻灯片图像占位符 1"/>
          <p:cNvSpPr>
            <a:spLocks noGrp="1" noRot="1" noChangeAspect="1" noTextEdit="1"/>
          </p:cNvSpPr>
          <p:nvPr>
            <p:ph type="sldImg"/>
          </p:nvPr>
        </p:nvSpPr>
        <p:spPr>
          <a:ln>
            <a:solidFill>
              <a:srgbClr val="000000"/>
            </a:solidFill>
            <a:miter/>
          </a:ln>
        </p:spPr>
      </p:sp>
      <p:sp>
        <p:nvSpPr>
          <p:cNvPr id="1048647"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48"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幻灯片图像占位符 1"/>
          <p:cNvSpPr>
            <a:spLocks noGrp="1" noRot="1" noChangeAspect="1" noTextEdit="1"/>
          </p:cNvSpPr>
          <p:nvPr>
            <p:ph type="sldImg"/>
          </p:nvPr>
        </p:nvSpPr>
        <p:spPr>
          <a:ln>
            <a:solidFill>
              <a:srgbClr val="000000"/>
            </a:solidFill>
            <a:miter/>
          </a:ln>
        </p:spPr>
      </p:sp>
      <p:sp>
        <p:nvSpPr>
          <p:cNvPr id="1048592" name="备注占位符 2"/>
          <p:cNvSpPr>
            <a:spLocks noGrp="1"/>
          </p:cNvSpPr>
          <p:nvPr>
            <p:ph type="body"/>
          </p:nvPr>
        </p:nvSpPr>
        <p:spPr/>
        <p:txBody>
          <a:bodyPr wrap="square" lIns="91440" tIns="45720" rIns="91440" bIns="45720" anchor="t" anchorCtr="0"/>
          <a:lstStyle/>
          <a:p>
            <a:pPr lvl="0"/>
            <a:r>
              <a:rPr lang="zh-CN" altLang="zh-CN" dirty="0"/>
              <a:t>一种统一的数据清洗</a:t>
            </a:r>
            <a:r>
              <a:rPr lang="zh-CN" altLang="zh-CN" dirty="0"/>
              <a:t>流程</a:t>
            </a:r>
            <a:endParaRPr lang="zh-CN" altLang="zh-CN" dirty="0"/>
          </a:p>
        </p:txBody>
      </p:sp>
      <p:sp>
        <p:nvSpPr>
          <p:cNvPr id="104859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幻灯片图像占位符 1"/>
          <p:cNvSpPr>
            <a:spLocks noGrp="1" noRot="1" noChangeAspect="1" noTextEdit="1"/>
          </p:cNvSpPr>
          <p:nvPr>
            <p:ph type="sldImg"/>
          </p:nvPr>
        </p:nvSpPr>
        <p:spPr>
          <a:ln>
            <a:solidFill>
              <a:srgbClr val="000000"/>
            </a:solidFill>
            <a:miter/>
          </a:ln>
        </p:spPr>
      </p:sp>
      <p:sp>
        <p:nvSpPr>
          <p:cNvPr id="1048592"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59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幻灯片图像占位符 1"/>
          <p:cNvSpPr>
            <a:spLocks noGrp="1" noRot="1" noChangeAspect="1" noTextEdit="1"/>
          </p:cNvSpPr>
          <p:nvPr>
            <p:ph type="sldImg"/>
          </p:nvPr>
        </p:nvSpPr>
        <p:spPr>
          <a:ln>
            <a:solidFill>
              <a:srgbClr val="000000"/>
            </a:solidFill>
            <a:miter/>
          </a:ln>
        </p:spPr>
      </p:sp>
      <p:sp>
        <p:nvSpPr>
          <p:cNvPr id="1048592"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59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幻灯片图像占位符 1"/>
          <p:cNvSpPr>
            <a:spLocks noGrp="1" noRot="1" noChangeAspect="1" noTextEdit="1"/>
          </p:cNvSpPr>
          <p:nvPr>
            <p:ph type="sldImg"/>
          </p:nvPr>
        </p:nvSpPr>
        <p:spPr>
          <a:ln>
            <a:solidFill>
              <a:srgbClr val="000000"/>
            </a:solidFill>
            <a:miter/>
          </a:ln>
        </p:spPr>
      </p:sp>
      <p:sp>
        <p:nvSpPr>
          <p:cNvPr id="1048647"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48"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幻灯片图像占位符 1"/>
          <p:cNvSpPr>
            <a:spLocks noGrp="1" noRot="1" noChangeAspect="1" noTextEdit="1"/>
          </p:cNvSpPr>
          <p:nvPr>
            <p:ph type="sldImg"/>
          </p:nvPr>
        </p:nvSpPr>
        <p:spPr>
          <a:ln>
            <a:solidFill>
              <a:srgbClr val="000000"/>
            </a:solidFill>
            <a:miter/>
          </a:ln>
        </p:spPr>
      </p:sp>
      <p:sp>
        <p:nvSpPr>
          <p:cNvPr id="1048601"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02"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幻灯片图像占位符 1"/>
          <p:cNvSpPr>
            <a:spLocks noGrp="1" noRot="1" noChangeAspect="1" noTextEdit="1"/>
          </p:cNvSpPr>
          <p:nvPr>
            <p:ph type="sldImg"/>
          </p:nvPr>
        </p:nvSpPr>
        <p:spPr>
          <a:ln>
            <a:solidFill>
              <a:srgbClr val="000000"/>
            </a:solidFill>
            <a:miter/>
          </a:ln>
        </p:spPr>
      </p:sp>
      <p:sp>
        <p:nvSpPr>
          <p:cNvPr id="1048601"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02"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幻灯片图像占位符 1"/>
          <p:cNvSpPr>
            <a:spLocks noGrp="1" noRot="1" noChangeAspect="1" noTextEdit="1"/>
          </p:cNvSpPr>
          <p:nvPr>
            <p:ph type="sldImg"/>
          </p:nvPr>
        </p:nvSpPr>
        <p:spPr>
          <a:ln>
            <a:solidFill>
              <a:srgbClr val="000000"/>
            </a:solidFill>
            <a:miter/>
          </a:ln>
        </p:spPr>
      </p:sp>
      <p:sp>
        <p:nvSpPr>
          <p:cNvPr id="1048601"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02"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幻灯片图像占位符 1"/>
          <p:cNvSpPr>
            <a:spLocks noGrp="1" noRot="1" noChangeAspect="1" noTextEdit="1"/>
          </p:cNvSpPr>
          <p:nvPr>
            <p:ph type="sldImg"/>
          </p:nvPr>
        </p:nvSpPr>
        <p:spPr>
          <a:ln>
            <a:solidFill>
              <a:srgbClr val="000000"/>
            </a:solidFill>
            <a:miter/>
          </a:ln>
        </p:spPr>
      </p:sp>
      <p:sp>
        <p:nvSpPr>
          <p:cNvPr id="1048601"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02"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幻灯片图像占位符 1"/>
          <p:cNvSpPr>
            <a:spLocks noGrp="1" noRot="1" noChangeAspect="1" noTextEdit="1"/>
          </p:cNvSpPr>
          <p:nvPr>
            <p:ph type="sldImg"/>
          </p:nvPr>
        </p:nvSpPr>
        <p:spPr>
          <a:ln>
            <a:solidFill>
              <a:srgbClr val="000000"/>
            </a:solidFill>
            <a:miter/>
          </a:ln>
        </p:spPr>
      </p:sp>
      <p:sp>
        <p:nvSpPr>
          <p:cNvPr id="1048647" name="备注占位符 2"/>
          <p:cNvSpPr>
            <a:spLocks noGrp="1"/>
          </p:cNvSpPr>
          <p:nvPr>
            <p:ph type="body"/>
          </p:nvPr>
        </p:nvSpPr>
        <p:spPr/>
        <p:txBody>
          <a:bodyPr wrap="square" lIns="91440" tIns="45720" rIns="91440" bIns="45720" anchor="t" anchorCtr="0"/>
          <a:lstStyle/>
          <a:p>
            <a:pPr lvl="0"/>
            <a:endParaRPr lang="zh-CN" altLang="zh-CN" dirty="0"/>
          </a:p>
        </p:txBody>
      </p:sp>
      <p:sp>
        <p:nvSpPr>
          <p:cNvPr id="1048648"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a:fld>
            <a:endParaRPr lang="zh-CN"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5" name="幻灯片图像占位符 1"/>
          <p:cNvSpPr>
            <a:spLocks noGrp="1" noRot="1" noChangeAspect="1"/>
          </p:cNvSpPr>
          <p:nvPr>
            <p:ph type="sldImg"/>
          </p:nvPr>
        </p:nvSpPr>
        <p:spPr/>
      </p:sp>
      <p:sp>
        <p:nvSpPr>
          <p:cNvPr id="1048826"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Thank</a:t>
            </a:r>
            <a:r>
              <a:rPr lang="en-US" altLang="zh-CN" dirty="0"/>
              <a:t>s for your time. Any question will be wellcomed.</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7.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 name="任意多边形 47"/>
          <p:cNvSpPr/>
          <p:nvPr/>
        </p:nvSpPr>
        <p:spPr>
          <a:xfrm rot="5400000">
            <a:off x="1303655" y="-1056005"/>
            <a:ext cx="735965" cy="3344545"/>
          </a:xfrm>
          <a:custGeom>
            <a:avLst/>
            <a:gdLst>
              <a:gd name="connsiteX0" fmla="*/ 0 w 990604"/>
              <a:gd name="connsiteY0" fmla="*/ 5956738 h 5956738"/>
              <a:gd name="connsiteX1" fmla="*/ 0 w 990604"/>
              <a:gd name="connsiteY1" fmla="*/ 317938 h 5956738"/>
              <a:gd name="connsiteX2" fmla="*/ 6 w 990604"/>
              <a:gd name="connsiteY2" fmla="*/ 317938 h 5956738"/>
              <a:gd name="connsiteX3" fmla="*/ 495305 w 990604"/>
              <a:gd name="connsiteY3" fmla="*/ 0 h 5956738"/>
              <a:gd name="connsiteX4" fmla="*/ 990604 w 990604"/>
              <a:gd name="connsiteY4" fmla="*/ 317938 h 5956738"/>
              <a:gd name="connsiteX5" fmla="*/ 990601 w 990604"/>
              <a:gd name="connsiteY5" fmla="*/ 317938 h 5956738"/>
              <a:gd name="connsiteX6" fmla="*/ 990601 w 990604"/>
              <a:gd name="connsiteY6" fmla="*/ 5956738 h 5956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0604" h="5956738">
                <a:moveTo>
                  <a:pt x="0" y="5956738"/>
                </a:moveTo>
                <a:lnTo>
                  <a:pt x="0" y="317938"/>
                </a:lnTo>
                <a:lnTo>
                  <a:pt x="6" y="317938"/>
                </a:lnTo>
                <a:lnTo>
                  <a:pt x="495305" y="0"/>
                </a:lnTo>
                <a:lnTo>
                  <a:pt x="990604" y="317938"/>
                </a:lnTo>
                <a:lnTo>
                  <a:pt x="990601" y="317938"/>
                </a:lnTo>
                <a:lnTo>
                  <a:pt x="990601" y="5956738"/>
                </a:lnTo>
                <a:close/>
              </a:path>
            </a:pathLst>
          </a:cu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24588" name="文本框 3"/>
          <p:cNvSpPr txBox="1"/>
          <p:nvPr/>
        </p:nvSpPr>
        <p:spPr>
          <a:xfrm>
            <a:off x="123825" y="330200"/>
            <a:ext cx="3295015" cy="583565"/>
          </a:xfrm>
          <a:prstGeom prst="rect">
            <a:avLst/>
          </a:prstGeom>
          <a:noFill/>
          <a:ln w="9525">
            <a:noFill/>
          </a:ln>
        </p:spPr>
        <p:txBody>
          <a:bodyPr wrap="square" anchor="t">
            <a:spAutoFit/>
          </a:bodyPr>
          <a:p>
            <a:r>
              <a:rPr lang="en-US" altLang="zh-CN" sz="3200">
                <a:solidFill>
                  <a:schemeClr val="bg1"/>
                </a:solidFill>
                <a:latin typeface="Times New Roman Regular" panose="02020503050405090304" charset="0"/>
                <a:ea typeface="微软雅黑" panose="020B0503020204020204" charset="-122"/>
              </a:rPr>
              <a:t>SIGCOMM 2025 </a:t>
            </a:r>
            <a:endParaRPr lang="en-US" altLang="zh-CN" sz="3200">
              <a:solidFill>
                <a:schemeClr val="bg1"/>
              </a:solidFill>
              <a:latin typeface="Times New Roman Regular" panose="02020503050405090304" charset="0"/>
              <a:ea typeface="微软雅黑" panose="020B0503020204020204" charset="-122"/>
            </a:endParaRPr>
          </a:p>
        </p:txBody>
      </p:sp>
      <p:sp>
        <p:nvSpPr>
          <p:cNvPr id="20" name="文本框 62"/>
          <p:cNvSpPr txBox="1"/>
          <p:nvPr>
            <p:custDataLst>
              <p:tags r:id="rId1"/>
            </p:custDataLst>
          </p:nvPr>
        </p:nvSpPr>
        <p:spPr>
          <a:xfrm>
            <a:off x="635" y="2334260"/>
            <a:ext cx="12191365" cy="803910"/>
          </a:xfrm>
          <a:prstGeom prst="rect">
            <a:avLst/>
          </a:prstGeom>
          <a:noFill/>
          <a:ln w="9525">
            <a:noFill/>
          </a:ln>
        </p:spPr>
        <p:txBody>
          <a:bodyPr wrap="square" anchor="t">
            <a:noAutofit/>
          </a:bodyPr>
          <a:p>
            <a:pPr algn="ctr">
              <a:buFont typeface="Wingdings" panose="05000000000000000000" charset="0"/>
            </a:pPr>
            <a:r>
              <a:rPr lang="en-US" altLang="zh-CN" sz="2800" b="1" dirty="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The Sweet Danger of Sugar: Debunking Representation Learning for Encrypted Traffic Classification</a:t>
            </a:r>
            <a:endParaRPr lang="en-US" altLang="zh-CN" sz="2800" b="1" dirty="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
        <p:nvSpPr>
          <p:cNvPr id="1048704" name="文本框 7"/>
          <p:cNvSpPr/>
          <p:nvPr/>
        </p:nvSpPr>
        <p:spPr>
          <a:xfrm>
            <a:off x="4227830" y="4304030"/>
            <a:ext cx="3298825" cy="1717040"/>
          </a:xfrm>
          <a:prstGeom prst="rect">
            <a:avLst/>
          </a:prstGeom>
          <a:noFill/>
          <a:ln w="9525">
            <a:noFill/>
          </a:ln>
        </p:spPr>
        <p:txBody>
          <a:bodyPr wrap="square" anchor="t" anchorCtr="0">
            <a:noAutofit/>
          </a:bodyPr>
          <a:p>
            <a:pPr algn="ctr">
              <a:lnSpc>
                <a:spcPct val="200000"/>
              </a:lnSpc>
            </a:pPr>
            <a:endParaRPr lang="zh-CN" altLang="en-US" sz="2400" dirty="0">
              <a:solidFill>
                <a:srgbClr val="1E4E79"/>
              </a:solidFill>
              <a:latin typeface="华文中宋" panose="02010600040101010101" charset="-122"/>
              <a:ea typeface="华文中宋" panose="02010600040101010101" charset="-122"/>
              <a:sym typeface="Adobe 黑体 Std R" pitchFamily="34" charset="-122"/>
            </a:endParaRPr>
          </a:p>
          <a:p>
            <a:pPr algn="ctr">
              <a:lnSpc>
                <a:spcPct val="200000"/>
              </a:lnSpc>
            </a:pPr>
            <a:r>
              <a:rPr lang="en-US" altLang="zh-CN" sz="2400" dirty="0">
                <a:solidFill>
                  <a:srgbClr val="1E4E79"/>
                </a:solidFill>
                <a:latin typeface="华文中宋" panose="02010600040101010101" charset="-122"/>
                <a:ea typeface="华文中宋" panose="02010600040101010101" charset="-122"/>
                <a:sym typeface="Adobe 黑体 Std R" pitchFamily="34" charset="-122"/>
              </a:rPr>
              <a:t> </a:t>
            </a:r>
            <a:endParaRPr lang="zh-CN" altLang="en-US" sz="2400" dirty="0">
              <a:solidFill>
                <a:srgbClr val="1E4E79"/>
              </a:solidFill>
              <a:latin typeface="华文中宋" panose="02010600040101010101" charset="-122"/>
              <a:ea typeface="华文中宋" panose="02010600040101010101" charset="-122"/>
              <a:sym typeface="Adobe 黑体 Std R" pitchFamily="34" charset="-122"/>
            </a:endParaRPr>
          </a:p>
          <a:p>
            <a:pPr algn="ctr">
              <a:lnSpc>
                <a:spcPct val="200000"/>
              </a:lnSpc>
            </a:pPr>
            <a:endParaRPr lang="zh-CN" altLang="en-US" sz="2400" dirty="0">
              <a:solidFill>
                <a:srgbClr val="1E4E79"/>
              </a:solidFill>
              <a:latin typeface="华文中宋" panose="02010600040101010101" charset="-122"/>
              <a:ea typeface="华文中宋" panose="02010600040101010101" charset="-122"/>
              <a:sym typeface="Adobe 黑体 Std R" pitchFamily="34" charset="-122"/>
            </a:endParaRPr>
          </a:p>
        </p:txBody>
      </p:sp>
      <p:sp>
        <p:nvSpPr>
          <p:cNvPr id="3" name="文本框 2"/>
          <p:cNvSpPr txBox="1"/>
          <p:nvPr/>
        </p:nvSpPr>
        <p:spPr>
          <a:xfrm>
            <a:off x="8741410" y="5172075"/>
            <a:ext cx="4455795" cy="526415"/>
          </a:xfrm>
          <a:prstGeom prst="rect">
            <a:avLst/>
          </a:prstGeom>
          <a:noFill/>
        </p:spPr>
        <p:txBody>
          <a:bodyPr wrap="square" rtlCol="0">
            <a:noAutofit/>
          </a:bodyPr>
          <a:p>
            <a:r>
              <a:rPr lang="zh-CN" altLang="en-US" sz="2000"/>
              <a:t>汇报人：唐臻宇</a:t>
            </a:r>
            <a:endParaRPr lang="zh-CN" altLang="en-US" sz="20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矩形 11"/>
          <p:cNvSpPr/>
          <p:nvPr/>
        </p:nvSpPr>
        <p:spPr>
          <a:xfrm>
            <a:off x="1" y="0"/>
            <a:ext cx="3533774" cy="6858000"/>
          </a:xfrm>
          <a:prstGeom prst="rect">
            <a:avLst/>
          </a:prstGeom>
          <a:solidFill>
            <a:srgbClr val="2E75B5"/>
          </a:solidFill>
          <a:ln w="9525">
            <a:noFill/>
          </a:ln>
        </p:spPr>
        <p:txBody>
          <a:bodyPr anchor="ctr" anchorCtr="0"/>
          <a:lstStyle/>
          <a:p>
            <a:pPr algn="ctr"/>
            <a:endParaRPr lang="zh-CN" altLang="zh-CN">
              <a:solidFill>
                <a:srgbClr val="FFFFFF"/>
              </a:solidFill>
              <a:latin typeface="华文中宋" panose="02010600040101010101" charset="-122"/>
              <a:ea typeface="华文中宋" panose="02010600040101010101" charset="-122"/>
              <a:sym typeface="Arial" panose="020B0604020202020204" pitchFamily="34" charset="0"/>
            </a:endParaRPr>
          </a:p>
        </p:txBody>
      </p:sp>
      <p:grpSp>
        <p:nvGrpSpPr>
          <p:cNvPr id="51" name="组合 20"/>
          <p:cNvGrpSpPr/>
          <p:nvPr/>
        </p:nvGrpSpPr>
        <p:grpSpPr>
          <a:xfrm>
            <a:off x="1058863" y="2670175"/>
            <a:ext cx="2034001" cy="1662318"/>
            <a:chOff x="0" y="0"/>
            <a:chExt cx="2033282" cy="1609703"/>
          </a:xfrm>
        </p:grpSpPr>
        <p:sp>
          <p:nvSpPr>
            <p:cNvPr id="1048640" name="文本框 7"/>
            <p:cNvSpPr/>
            <p:nvPr/>
          </p:nvSpPr>
          <p:spPr>
            <a:xfrm>
              <a:off x="0" y="0"/>
              <a:ext cx="1858622" cy="1035494"/>
            </a:xfrm>
            <a:prstGeom prst="rect">
              <a:avLst/>
            </a:prstGeom>
            <a:noFill/>
            <a:ln w="9525">
              <a:noFill/>
            </a:ln>
          </p:spPr>
          <p:txBody>
            <a:bodyPr wrap="none" anchor="t" anchorCtr="0">
              <a:spAutoFit/>
            </a:bodyPr>
            <a:lstStyle/>
            <a:p>
              <a:r>
                <a:rPr lang="zh-CN" altLang="en-US" sz="6600">
                  <a:solidFill>
                    <a:schemeClr val="bg1"/>
                  </a:solidFill>
                  <a:latin typeface="华文中宋" panose="02010600040101010101" charset="-122"/>
                  <a:ea typeface="华文中宋" panose="02010600040101010101" charset="-122"/>
                  <a:sym typeface="微软雅黑" panose="020B0503020204020204" charset="-122"/>
                </a:rPr>
                <a:t>目录</a:t>
              </a:r>
              <a:endParaRPr lang="zh-CN" altLang="en-US" sz="6600">
                <a:solidFill>
                  <a:schemeClr val="bg1"/>
                </a:solidFill>
                <a:latin typeface="华文中宋" panose="02010600040101010101" charset="-122"/>
                <a:ea typeface="华文中宋" panose="02010600040101010101" charset="-122"/>
                <a:sym typeface="微软雅黑" panose="020B0503020204020204" charset="-122"/>
              </a:endParaRPr>
            </a:p>
          </p:txBody>
        </p:sp>
        <p:sp>
          <p:nvSpPr>
            <p:cNvPr id="1048641" name="文本框 8"/>
            <p:cNvSpPr/>
            <p:nvPr/>
          </p:nvSpPr>
          <p:spPr>
            <a:xfrm>
              <a:off x="9618" y="943149"/>
              <a:ext cx="2023664" cy="666554"/>
            </a:xfrm>
            <a:prstGeom prst="rect">
              <a:avLst/>
            </a:prstGeom>
            <a:noFill/>
            <a:ln w="9525">
              <a:noFill/>
            </a:ln>
          </p:spPr>
          <p:txBody>
            <a:bodyPr wrap="none" anchor="t" anchorCtr="0">
              <a:spAutoFit/>
            </a:bodyPr>
            <a:lstStyle/>
            <a:p>
              <a:r>
                <a:rPr lang="en-US" altLang="zh-CN" sz="4000">
                  <a:solidFill>
                    <a:schemeClr val="bg1"/>
                  </a:solidFill>
                  <a:latin typeface="华文中宋" panose="02010600040101010101" charset="-122"/>
                  <a:ea typeface="华文中宋" panose="02010600040101010101" charset="-122"/>
                  <a:sym typeface="Arial" panose="020B0604020202020204" pitchFamily="34" charset="0"/>
                </a:rPr>
                <a:t>content</a:t>
              </a:r>
              <a:endParaRPr lang="en-US" altLang="zh-CN" sz="4000">
                <a:solidFill>
                  <a:schemeClr val="bg1"/>
                </a:solidFill>
                <a:latin typeface="华文中宋" panose="02010600040101010101" charset="-122"/>
                <a:ea typeface="华文中宋" panose="02010600040101010101" charset="-122"/>
                <a:sym typeface="Arial" panose="020B0604020202020204" pitchFamily="34" charset="0"/>
              </a:endParaRPr>
            </a:p>
          </p:txBody>
        </p:sp>
      </p:grpSp>
      <p:sp>
        <p:nvSpPr>
          <p:cNvPr id="1048642" name="文本框 5"/>
          <p:cNvSpPr/>
          <p:nvPr/>
        </p:nvSpPr>
        <p:spPr>
          <a:xfrm>
            <a:off x="4010025" y="1211580"/>
            <a:ext cx="7866380" cy="1322070"/>
          </a:xfrm>
          <a:prstGeom prst="rect">
            <a:avLst/>
          </a:prstGeom>
          <a:noFill/>
          <a:ln w="9525">
            <a:noFill/>
          </a:ln>
        </p:spPr>
        <p:txBody>
          <a:bodyPr wrap="square" anchor="t" anchorCtr="0">
            <a:spAutoFit/>
          </a:bodyPr>
          <a:lstStyle/>
          <a:p>
            <a:r>
              <a:rPr lang="en-US" alt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1  Background and Motivation</a:t>
            </a:r>
            <a:endParaRPr lang="en-US" alt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a:p>
            <a:endParaRPr 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3" name="文本框 11"/>
          <p:cNvSpPr/>
          <p:nvPr/>
        </p:nvSpPr>
        <p:spPr>
          <a:xfrm>
            <a:off x="4010025" y="2429510"/>
            <a:ext cx="600011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2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Approach</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4" name="文本框 12"/>
          <p:cNvSpPr/>
          <p:nvPr/>
        </p:nvSpPr>
        <p:spPr>
          <a:xfrm>
            <a:off x="4010025" y="4866005"/>
            <a:ext cx="8107680"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4  T</a:t>
            </a:r>
            <a:r>
              <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hinking and </a:t>
            </a:r>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I</a:t>
            </a:r>
            <a:r>
              <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nspiration</a:t>
            </a:r>
            <a:endPar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5" name="文本框 11"/>
          <p:cNvSpPr/>
          <p:nvPr/>
        </p:nvSpPr>
        <p:spPr>
          <a:xfrm>
            <a:off x="4010025" y="3648075"/>
            <a:ext cx="754316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3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Experiment</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048765" name="菱形 6"/>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4876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cxnSp>
        <p:nvCxnSpPr>
          <p:cNvPr id="3145743" name="直接连接符 21"/>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048767" name="文本框 7"/>
          <p:cNvSpPr txBox="1"/>
          <p:nvPr/>
        </p:nvSpPr>
        <p:spPr>
          <a:xfrm>
            <a:off x="1060238" y="225291"/>
            <a:ext cx="3843867" cy="521970"/>
          </a:xfrm>
          <a:prstGeom prst="rect">
            <a:avLst/>
          </a:prstGeom>
          <a:noFill/>
          <a:ln w="9525">
            <a:noFill/>
          </a:ln>
        </p:spPr>
        <p:txBody>
          <a:bodyPr wrap="square" anchor="t" anchorCtr="0">
            <a:spAutoFit/>
          </a:bodyPr>
          <a:lstStyle/>
          <a:p>
            <a:r>
              <a:rPr lang="zh-CN" altLang="en-US" sz="2800" b="1" dirty="0">
                <a:solidFill>
                  <a:srgbClr val="0072A9"/>
                </a:solidFill>
                <a:latin typeface="华文中宋" panose="02010600040101010101" charset="-122"/>
                <a:ea typeface="华文中宋" panose="02010600040101010101" charset="-122"/>
              </a:rPr>
              <a:t>Background</a:t>
            </a:r>
            <a:endParaRPr lang="zh-CN" altLang="en-US" sz="2800" b="1" dirty="0">
              <a:solidFill>
                <a:srgbClr val="0072A9"/>
              </a:solidFill>
              <a:latin typeface="华文中宋" panose="02010600040101010101" charset="-122"/>
              <a:ea typeface="华文中宋" panose="02010600040101010101" charset="-122"/>
            </a:endParaRPr>
          </a:p>
        </p:txBody>
      </p:sp>
      <p:sp>
        <p:nvSpPr>
          <p:cNvPr id="1048768"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lstStyle/>
          <a:p>
            <a:pPr algn="ctr">
              <a:buSzTx/>
            </a:pPr>
            <a:r>
              <a:rPr lang="en-US" altLang="zh-CN" sz="2800" dirty="0">
                <a:solidFill>
                  <a:schemeClr val="bg1"/>
                </a:solidFill>
                <a:latin typeface="华文中宋" panose="02010600040101010101" charset="-122"/>
                <a:ea typeface="华文中宋" panose="02010600040101010101" charset="-122"/>
                <a:sym typeface="+mn-ea"/>
              </a:rPr>
              <a:t>Represention Learning</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2" name="文本框 1"/>
          <p:cNvSpPr txBox="1"/>
          <p:nvPr/>
        </p:nvSpPr>
        <p:spPr>
          <a:xfrm>
            <a:off x="900430" y="1173480"/>
            <a:ext cx="10297160" cy="1198880"/>
          </a:xfrm>
          <a:prstGeom prst="rect">
            <a:avLst/>
          </a:prstGeom>
          <a:noFill/>
        </p:spPr>
        <p:txBody>
          <a:bodyPr wrap="square" rtlCol="0" anchor="t">
            <a:spAutoFit/>
          </a:bodyPr>
          <a:p>
            <a:r>
              <a:rPr lang="zh-CN" altLang="en-US" sz="2400" b="1">
                <a:latin typeface="华文仿宋" panose="02010600040101010101" charset="-122"/>
                <a:ea typeface="华文仿宋" panose="02010600040101010101" charset="-122"/>
                <a:cs typeface="华文仿宋" panose="02010600040101010101" charset="-122"/>
              </a:rPr>
              <a:t>基于表示学习的模型（如</a:t>
            </a:r>
            <a:r>
              <a:rPr lang="en-US" altLang="zh-CN" sz="2400" b="1">
                <a:latin typeface="华文仿宋" panose="02010600040101010101" charset="-122"/>
                <a:ea typeface="华文仿宋" panose="02010600040101010101" charset="-122"/>
                <a:cs typeface="华文仿宋" panose="02010600040101010101" charset="-122"/>
              </a:rPr>
              <a:t>BERT</a:t>
            </a:r>
            <a:r>
              <a:rPr lang="zh-CN" altLang="en-US" sz="2400" b="1">
                <a:latin typeface="华文仿宋" panose="02010600040101010101" charset="-122"/>
                <a:ea typeface="华文仿宋" panose="02010600040101010101" charset="-122"/>
                <a:cs typeface="华文仿宋" panose="02010600040101010101" charset="-122"/>
              </a:rPr>
              <a:t>、</a:t>
            </a:r>
            <a:r>
              <a:rPr lang="en-US" altLang="zh-CN" sz="2400" b="1">
                <a:latin typeface="华文仿宋" panose="02010600040101010101" charset="-122"/>
                <a:ea typeface="华文仿宋" panose="02010600040101010101" charset="-122"/>
                <a:cs typeface="华文仿宋" panose="02010600040101010101" charset="-122"/>
              </a:rPr>
              <a:t>MAE</a:t>
            </a:r>
            <a:r>
              <a:rPr lang="zh-CN" altLang="en-US" sz="2400" b="1">
                <a:latin typeface="华文仿宋" panose="02010600040101010101" charset="-122"/>
                <a:ea typeface="华文仿宋" panose="02010600040101010101" charset="-122"/>
                <a:cs typeface="华文仿宋" panose="02010600040101010101" charset="-122"/>
              </a:rPr>
              <a:t>）在</a:t>
            </a:r>
            <a:r>
              <a:rPr lang="en-US" altLang="zh-CN" sz="2400" b="1">
                <a:latin typeface="华文仿宋" panose="02010600040101010101" charset="-122"/>
                <a:ea typeface="华文仿宋" panose="02010600040101010101" charset="-122"/>
                <a:cs typeface="华文仿宋" panose="02010600040101010101" charset="-122"/>
              </a:rPr>
              <a:t>NLP</a:t>
            </a:r>
            <a:r>
              <a:rPr lang="zh-CN" altLang="en-US" sz="2400" b="1">
                <a:latin typeface="华文仿宋" panose="02010600040101010101" charset="-122"/>
                <a:ea typeface="华文仿宋" panose="02010600040101010101" charset="-122"/>
                <a:cs typeface="华文仿宋" panose="02010600040101010101" charset="-122"/>
              </a:rPr>
              <a:t>、</a:t>
            </a:r>
            <a:r>
              <a:rPr lang="en-US" altLang="zh-CN" sz="2400" b="1">
                <a:latin typeface="华文仿宋" panose="02010600040101010101" charset="-122"/>
                <a:ea typeface="华文仿宋" panose="02010600040101010101" charset="-122"/>
                <a:cs typeface="华文仿宋" panose="02010600040101010101" charset="-122"/>
              </a:rPr>
              <a:t>CV</a:t>
            </a:r>
            <a:r>
              <a:rPr lang="zh-CN" altLang="en-US" sz="2400" b="1">
                <a:latin typeface="华文仿宋" panose="02010600040101010101" charset="-122"/>
                <a:ea typeface="华文仿宋" panose="02010600040101010101" charset="-122"/>
                <a:cs typeface="华文仿宋" panose="02010600040101010101" charset="-122"/>
              </a:rPr>
              <a:t>中取得了巨大成功，近期越来越多研究将这些方法应用在加密流量分类任务，提出了多种预训练的表示模型如下，并取得了不错的</a:t>
            </a:r>
            <a:r>
              <a:rPr lang="zh-CN" altLang="en-US" sz="2400" b="1">
                <a:latin typeface="华文仿宋" panose="02010600040101010101" charset="-122"/>
                <a:ea typeface="华文仿宋" panose="02010600040101010101" charset="-122"/>
                <a:cs typeface="华文仿宋" panose="02010600040101010101" charset="-122"/>
              </a:rPr>
              <a:t>效果</a:t>
            </a:r>
            <a:endParaRPr lang="zh-CN" altLang="en-US" sz="2400" b="1">
              <a:latin typeface="华文仿宋" panose="02010600040101010101" charset="-122"/>
              <a:ea typeface="华文仿宋" panose="02010600040101010101" charset="-122"/>
              <a:cs typeface="华文仿宋" panose="02010600040101010101" charset="-122"/>
            </a:endParaRPr>
          </a:p>
        </p:txBody>
      </p:sp>
      <p:pic>
        <p:nvPicPr>
          <p:cNvPr id="6" name="图片 5"/>
          <p:cNvPicPr>
            <a:picLocks noChangeAspect="1"/>
          </p:cNvPicPr>
          <p:nvPr/>
        </p:nvPicPr>
        <p:blipFill>
          <a:blip r:embed="rId1"/>
          <a:stretch>
            <a:fillRect/>
          </a:stretch>
        </p:blipFill>
        <p:spPr>
          <a:xfrm>
            <a:off x="421005" y="2441575"/>
            <a:ext cx="11136630" cy="363601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048765" name="菱形 6"/>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4876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cxnSp>
        <p:nvCxnSpPr>
          <p:cNvPr id="3145743" name="直接连接符 21"/>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048767" name="文本框 7"/>
          <p:cNvSpPr txBox="1"/>
          <p:nvPr/>
        </p:nvSpPr>
        <p:spPr>
          <a:xfrm>
            <a:off x="1060238" y="225291"/>
            <a:ext cx="3843867" cy="521970"/>
          </a:xfrm>
          <a:prstGeom prst="rect">
            <a:avLst/>
          </a:prstGeom>
          <a:noFill/>
          <a:ln w="9525">
            <a:noFill/>
          </a:ln>
        </p:spPr>
        <p:txBody>
          <a:bodyPr wrap="square" anchor="t" anchorCtr="0">
            <a:spAutoFit/>
          </a:bodyPr>
          <a:lstStyle/>
          <a:p>
            <a:r>
              <a:rPr lang="en-US" altLang="zh-CN" sz="2800" b="1" dirty="0">
                <a:solidFill>
                  <a:srgbClr val="0072A9"/>
                </a:solidFill>
                <a:latin typeface="华文中宋" panose="02010600040101010101" charset="-122"/>
                <a:ea typeface="华文中宋" panose="02010600040101010101" charset="-122"/>
              </a:rPr>
              <a:t>M</a:t>
            </a:r>
            <a:r>
              <a:rPr lang="zh-CN" altLang="en-US" sz="2800" b="1" dirty="0">
                <a:solidFill>
                  <a:srgbClr val="0072A9"/>
                </a:solidFill>
                <a:latin typeface="华文中宋" panose="02010600040101010101" charset="-122"/>
                <a:ea typeface="华文中宋" panose="02010600040101010101" charset="-122"/>
              </a:rPr>
              <a:t>otivation</a:t>
            </a:r>
            <a:endParaRPr lang="zh-CN" altLang="en-US" sz="2800" b="1" dirty="0">
              <a:solidFill>
                <a:srgbClr val="0072A9"/>
              </a:solidFill>
              <a:latin typeface="华文中宋" panose="02010600040101010101" charset="-122"/>
              <a:ea typeface="华文中宋" panose="02010600040101010101" charset="-122"/>
            </a:endParaRPr>
          </a:p>
        </p:txBody>
      </p:sp>
      <p:sp>
        <p:nvSpPr>
          <p:cNvPr id="1048768"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lstStyle/>
          <a:p>
            <a:pPr algn="ctr">
              <a:buSzTx/>
            </a:pPr>
            <a:r>
              <a:rPr lang="en-US" altLang="zh-CN" sz="2800" dirty="0">
                <a:solidFill>
                  <a:schemeClr val="bg1"/>
                </a:solidFill>
                <a:latin typeface="华文中宋" panose="02010600040101010101" charset="-122"/>
                <a:ea typeface="华文中宋" panose="02010600040101010101" charset="-122"/>
                <a:sym typeface="+mn-ea"/>
              </a:rPr>
              <a:t>The Sweet of Danger</a:t>
            </a:r>
            <a:endParaRPr lang="en-US" altLang="zh-CN" sz="2800" dirty="0">
              <a:solidFill>
                <a:schemeClr val="bg1"/>
              </a:solidFill>
              <a:latin typeface="华文中宋" panose="02010600040101010101" charset="-122"/>
              <a:ea typeface="华文中宋" panose="02010600040101010101" charset="-122"/>
              <a:sym typeface="+mn-ea"/>
            </a:endParaRPr>
          </a:p>
        </p:txBody>
      </p:sp>
      <p:pic>
        <p:nvPicPr>
          <p:cNvPr id="4" name="图片 3"/>
          <p:cNvPicPr>
            <a:picLocks noChangeAspect="1"/>
          </p:cNvPicPr>
          <p:nvPr/>
        </p:nvPicPr>
        <p:blipFill>
          <a:blip r:embed="rId1"/>
          <a:stretch>
            <a:fillRect/>
          </a:stretch>
        </p:blipFill>
        <p:spPr>
          <a:xfrm>
            <a:off x="2360930" y="1080135"/>
            <a:ext cx="7470775" cy="540893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048765" name="菱形 6"/>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4876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cxnSp>
        <p:nvCxnSpPr>
          <p:cNvPr id="3145743" name="直接连接符 21"/>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048767" name="文本框 7"/>
          <p:cNvSpPr txBox="1"/>
          <p:nvPr/>
        </p:nvSpPr>
        <p:spPr>
          <a:xfrm>
            <a:off x="1060238" y="225291"/>
            <a:ext cx="3843867" cy="521970"/>
          </a:xfrm>
          <a:prstGeom prst="rect">
            <a:avLst/>
          </a:prstGeom>
          <a:noFill/>
          <a:ln w="9525">
            <a:noFill/>
          </a:ln>
        </p:spPr>
        <p:txBody>
          <a:bodyPr wrap="square" anchor="t" anchorCtr="0">
            <a:spAutoFit/>
          </a:bodyPr>
          <a:lstStyle/>
          <a:p>
            <a:r>
              <a:rPr lang="en-US" altLang="zh-CN" sz="2800" b="1" dirty="0">
                <a:solidFill>
                  <a:srgbClr val="0072A9"/>
                </a:solidFill>
                <a:latin typeface="华文中宋" panose="02010600040101010101" charset="-122"/>
                <a:ea typeface="华文中宋" panose="02010600040101010101" charset="-122"/>
              </a:rPr>
              <a:t>M</a:t>
            </a:r>
            <a:r>
              <a:rPr lang="zh-CN" altLang="en-US" sz="2800" b="1" dirty="0">
                <a:solidFill>
                  <a:srgbClr val="0072A9"/>
                </a:solidFill>
                <a:latin typeface="华文中宋" panose="02010600040101010101" charset="-122"/>
                <a:ea typeface="华文中宋" panose="02010600040101010101" charset="-122"/>
              </a:rPr>
              <a:t>otivation</a:t>
            </a:r>
            <a:endParaRPr lang="zh-CN" altLang="en-US" sz="2800" b="1" dirty="0">
              <a:solidFill>
                <a:srgbClr val="0072A9"/>
              </a:solidFill>
              <a:latin typeface="华文中宋" panose="02010600040101010101" charset="-122"/>
              <a:ea typeface="华文中宋" panose="02010600040101010101" charset="-122"/>
            </a:endParaRPr>
          </a:p>
        </p:txBody>
      </p:sp>
      <p:sp>
        <p:nvSpPr>
          <p:cNvPr id="1048768"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lstStyle/>
          <a:p>
            <a:pPr algn="ctr">
              <a:buSzTx/>
            </a:pPr>
            <a:r>
              <a:rPr lang="en-US" altLang="zh-CN" sz="2800" dirty="0">
                <a:solidFill>
                  <a:schemeClr val="bg1"/>
                </a:solidFill>
                <a:latin typeface="华文中宋" panose="02010600040101010101" charset="-122"/>
                <a:ea typeface="华文中宋" panose="02010600040101010101" charset="-122"/>
                <a:sym typeface="+mn-ea"/>
              </a:rPr>
              <a:t>The Sweet of Danger</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3" name="文本框 2"/>
          <p:cNvSpPr txBox="1"/>
          <p:nvPr/>
        </p:nvSpPr>
        <p:spPr>
          <a:xfrm>
            <a:off x="779145" y="1471295"/>
            <a:ext cx="4477385" cy="676275"/>
          </a:xfrm>
          <a:prstGeom prst="rect">
            <a:avLst/>
          </a:prstGeom>
          <a:noFill/>
        </p:spPr>
        <p:txBody>
          <a:bodyPr wrap="square" rtlCol="0" anchor="t">
            <a:noAutofit/>
          </a:bodyPr>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华文仿宋" panose="02010600040101010101" charset="-122"/>
              </a:rPr>
              <a:t>模型采用</a:t>
            </a:r>
            <a:r>
              <a:rPr lang="en-US" altLang="zh-CN">
                <a:latin typeface="华文仿宋" panose="02010600040101010101" charset="-122"/>
                <a:ea typeface="华文仿宋" panose="02010600040101010101" charset="-122"/>
                <a:cs typeface="华文仿宋" panose="02010600040101010101" charset="-122"/>
              </a:rPr>
              <a:t>per-flow split</a:t>
            </a:r>
            <a:r>
              <a:rPr lang="zh-CN" altLang="en-US">
                <a:latin typeface="华文仿宋" panose="02010600040101010101" charset="-122"/>
                <a:ea typeface="华文仿宋" panose="02010600040101010101" charset="-122"/>
                <a:cs typeface="华文仿宋" panose="02010600040101010101" charset="-122"/>
              </a:rPr>
              <a:t>后，模型性能显著下降</a:t>
            </a:r>
            <a:r>
              <a:rPr lang="en-US" altLang="zh-CN">
                <a:latin typeface="华文仿宋" panose="02010600040101010101" charset="-122"/>
                <a:ea typeface="华文仿宋" panose="02010600040101010101" charset="-122"/>
                <a:cs typeface="华文仿宋" panose="02010600040101010101" charset="-122"/>
              </a:rPr>
              <a:t>——</a:t>
            </a:r>
            <a:r>
              <a:rPr lang="zh-CN" altLang="en-US">
                <a:solidFill>
                  <a:srgbClr val="FF0000"/>
                </a:solidFill>
                <a:latin typeface="华文仿宋" panose="02010600040101010101" charset="-122"/>
                <a:ea typeface="华文仿宋" panose="02010600040101010101" charset="-122"/>
                <a:cs typeface="华文仿宋" panose="02010600040101010101" charset="-122"/>
              </a:rPr>
              <a:t>模型是否真的学到了有意义的表示，还是仅仅利用了数据集中的捷径？</a:t>
            </a:r>
            <a:endParaRPr lang="zh-CN" altLang="en-US">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11" name="文本框 10"/>
          <p:cNvSpPr txBox="1"/>
          <p:nvPr/>
        </p:nvSpPr>
        <p:spPr>
          <a:xfrm>
            <a:off x="781050" y="2319020"/>
            <a:ext cx="4399915" cy="582295"/>
          </a:xfrm>
          <a:prstGeom prst="rect">
            <a:avLst/>
          </a:prstGeom>
          <a:noFill/>
        </p:spPr>
        <p:txBody>
          <a:bodyPr wrap="square" rtlCol="0" anchor="t">
            <a:noAutofit/>
          </a:bodyPr>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Comic Sans MS" panose="030F0702030302020204" pitchFamily="66" charset="0"/>
              </a:rPr>
              <a:t>在微调阶段冻结编码器，模型性能大幅下降</a:t>
            </a:r>
            <a:r>
              <a:rPr lang="en-US" altLang="zh-CN">
                <a:latin typeface="华文仿宋" panose="02010600040101010101" charset="-122"/>
                <a:ea typeface="华文仿宋" panose="02010600040101010101" charset="-122"/>
                <a:cs typeface="Comic Sans MS" panose="030F0702030302020204" pitchFamily="66" charset="0"/>
              </a:rPr>
              <a:t>——</a:t>
            </a:r>
            <a:r>
              <a:rPr lang="zh-CN" altLang="en-US">
                <a:solidFill>
                  <a:srgbClr val="FF0000"/>
                </a:solidFill>
                <a:latin typeface="华文仿宋" panose="02010600040101010101" charset="-122"/>
                <a:ea typeface="华文仿宋" panose="02010600040101010101" charset="-122"/>
                <a:cs typeface="Comic Sans MS" panose="030F0702030302020204" pitchFamily="66" charset="0"/>
              </a:rPr>
              <a:t>加密流量中是否存在可学习的语义信息？</a:t>
            </a:r>
            <a:endParaRPr lang="en-US" altLang="zh-CN">
              <a:latin typeface="华文仿宋" panose="02010600040101010101" charset="-122"/>
              <a:ea typeface="华文仿宋" panose="02010600040101010101" charset="-122"/>
              <a:cs typeface="Comic Sans MS" panose="030F0702030302020204" pitchFamily="66" charset="0"/>
            </a:endParaRPr>
          </a:p>
          <a:p>
            <a:pPr marL="285750" indent="-285750">
              <a:buFont typeface="Arial" panose="020B0604020202020204" pitchFamily="34" charset="0"/>
              <a:buChar char="•"/>
            </a:pPr>
            <a:endParaRPr lang="zh-CN" altLang="en-US">
              <a:latin typeface="华文仿宋" panose="02010600040101010101" charset="-122"/>
              <a:ea typeface="华文仿宋" panose="02010600040101010101" charset="-122"/>
              <a:cs typeface="Comic Sans MS" panose="030F0702030302020204" pitchFamily="66" charset="0"/>
            </a:endParaRPr>
          </a:p>
        </p:txBody>
      </p:sp>
      <p:sp>
        <p:nvSpPr>
          <p:cNvPr id="19" name="文本框 18"/>
          <p:cNvSpPr txBox="1"/>
          <p:nvPr/>
        </p:nvSpPr>
        <p:spPr>
          <a:xfrm>
            <a:off x="774065" y="3155950"/>
            <a:ext cx="4406900" cy="582295"/>
          </a:xfrm>
          <a:prstGeom prst="rect">
            <a:avLst/>
          </a:prstGeom>
          <a:noFill/>
        </p:spPr>
        <p:txBody>
          <a:bodyPr wrap="square" rtlCol="0" anchor="t">
            <a:noAutofit/>
          </a:bodyPr>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Comic Sans MS" panose="030F0702030302020204" pitchFamily="66" charset="0"/>
              </a:rPr>
              <a:t>许多方法在数据处理过程中未能充分保障数据的完整性与一致性</a:t>
            </a:r>
            <a:endParaRPr lang="zh-CN" altLang="en-US">
              <a:latin typeface="华文仿宋" panose="02010600040101010101" charset="-122"/>
              <a:ea typeface="华文仿宋" panose="02010600040101010101" charset="-122"/>
              <a:cs typeface="Comic Sans MS" panose="030F0702030302020204" pitchFamily="66" charset="0"/>
            </a:endParaRPr>
          </a:p>
        </p:txBody>
      </p:sp>
      <p:sp>
        <p:nvSpPr>
          <p:cNvPr id="9" name="矩形 8"/>
          <p:cNvSpPr/>
          <p:nvPr>
            <p:custDataLst>
              <p:tags r:id="rId1"/>
            </p:custDataLst>
          </p:nvPr>
        </p:nvSpPr>
        <p:spPr>
          <a:xfrm>
            <a:off x="647700" y="1294765"/>
            <a:ext cx="4608830" cy="2670175"/>
          </a:xfrm>
          <a:prstGeom prst="rect">
            <a:avLst/>
          </a:prstGeom>
          <a:noFill/>
          <a:ln w="28575"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Comic Sans MS" panose="030F0702030302020204" pitchFamily="66" charset="0"/>
              <a:cs typeface="Comic Sans MS" panose="030F0702030302020204" pitchFamily="66" charset="0"/>
            </a:endParaRPr>
          </a:p>
        </p:txBody>
      </p:sp>
      <p:sp>
        <p:nvSpPr>
          <p:cNvPr id="13" name="文本框 12"/>
          <p:cNvSpPr txBox="1"/>
          <p:nvPr/>
        </p:nvSpPr>
        <p:spPr>
          <a:xfrm>
            <a:off x="2157095" y="1128395"/>
            <a:ext cx="1588770" cy="332105"/>
          </a:xfrm>
          <a:prstGeom prst="rect">
            <a:avLst/>
          </a:prstGeom>
          <a:solidFill>
            <a:schemeClr val="accent1"/>
          </a:solidFill>
          <a:ln w="28575" cmpd="sng">
            <a:solidFill>
              <a:schemeClr val="accent1">
                <a:shade val="50000"/>
              </a:schemeClr>
            </a:solidFill>
            <a:prstDash val="solid"/>
          </a:ln>
        </p:spPr>
        <p:txBody>
          <a:bodyPr wrap="square" rtlCol="0">
            <a:noAutofit/>
          </a:bodyPr>
          <a:p>
            <a:pPr algn="ctr"/>
            <a:r>
              <a:rPr lang="en-US" altLang="zh-CN">
                <a:solidFill>
                  <a:schemeClr val="bg1"/>
                </a:solidFill>
                <a:latin typeface="Comic Sans MS" panose="030F0702030302020204" pitchFamily="66" charset="0"/>
                <a:cs typeface="Comic Sans MS" panose="030F0702030302020204" pitchFamily="66" charset="0"/>
              </a:rPr>
              <a:t>problems</a:t>
            </a:r>
            <a:endParaRPr lang="en-US" altLang="zh-CN">
              <a:solidFill>
                <a:schemeClr val="bg1"/>
              </a:solidFill>
              <a:latin typeface="Comic Sans MS" panose="030F0702030302020204" pitchFamily="66" charset="0"/>
              <a:cs typeface="Comic Sans MS" panose="030F0702030302020204" pitchFamily="66" charset="0"/>
            </a:endParaRPr>
          </a:p>
        </p:txBody>
      </p:sp>
      <p:sp>
        <p:nvSpPr>
          <p:cNvPr id="15" name="文本框 14"/>
          <p:cNvSpPr txBox="1"/>
          <p:nvPr/>
        </p:nvSpPr>
        <p:spPr>
          <a:xfrm>
            <a:off x="6810375" y="1460500"/>
            <a:ext cx="4585335" cy="663575"/>
          </a:xfrm>
          <a:prstGeom prst="rect">
            <a:avLst/>
          </a:prstGeom>
          <a:noFill/>
        </p:spPr>
        <p:txBody>
          <a:bodyPr wrap="square" rtlCol="0" anchor="t">
            <a:noAutofit/>
          </a:bodyPr>
          <a:p>
            <a:pPr marL="285750" indent="-285750">
              <a:buFont typeface="Arial" panose="020B0604020202020204" pitchFamily="34" charset="0"/>
              <a:buChar char="•"/>
            </a:pPr>
            <a:r>
              <a:rPr lang="en-US" altLang="zh-CN">
                <a:solidFill>
                  <a:srgbClr val="FF0000"/>
                </a:solidFill>
                <a:latin typeface="华文仿宋" panose="02010600040101010101" charset="-122"/>
                <a:ea typeface="华文仿宋" panose="02010600040101010101" charset="-122"/>
                <a:cs typeface="华文仿宋" panose="02010600040101010101" charset="-122"/>
              </a:rPr>
              <a:t>per-packet split </a:t>
            </a:r>
            <a:r>
              <a:rPr lang="zh-CN" altLang="en-US">
                <a:solidFill>
                  <a:srgbClr val="FF0000"/>
                </a:solidFill>
                <a:latin typeface="华文仿宋" panose="02010600040101010101" charset="-122"/>
                <a:ea typeface="华文仿宋" panose="02010600040101010101" charset="-122"/>
                <a:cs typeface="华文仿宋" panose="02010600040101010101" charset="-122"/>
              </a:rPr>
              <a:t>导致严重的数据泄露，使模型倾向于捷径学习，如流标识符</a:t>
            </a:r>
            <a:endParaRPr lang="zh-CN" altLang="en-US">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16" name="文本框 15"/>
          <p:cNvSpPr txBox="1"/>
          <p:nvPr/>
        </p:nvSpPr>
        <p:spPr>
          <a:xfrm>
            <a:off x="6807200" y="2318385"/>
            <a:ext cx="4417695" cy="815340"/>
          </a:xfrm>
          <a:prstGeom prst="rect">
            <a:avLst/>
          </a:prstGeom>
          <a:noFill/>
        </p:spPr>
        <p:txBody>
          <a:bodyPr wrap="square" rtlCol="0" anchor="t">
            <a:noAutofit/>
          </a:bodyPr>
          <a:p>
            <a:pPr marL="285750" indent="-285750">
              <a:buFont typeface="Arial" panose="020B0604020202020204" pitchFamily="34" charset="0"/>
              <a:buChar char="•"/>
            </a:pPr>
            <a:r>
              <a:rPr lang="zh-CN" altLang="en-US">
                <a:solidFill>
                  <a:srgbClr val="FF0000"/>
                </a:solidFill>
                <a:latin typeface="华文仿宋" panose="02010600040101010101" charset="-122"/>
                <a:ea typeface="华文仿宋" panose="02010600040101010101" charset="-122"/>
                <a:cs typeface="华文仿宋" panose="02010600040101010101" charset="-122"/>
              </a:rPr>
              <a:t>直接从加密载荷（</a:t>
            </a:r>
            <a:r>
              <a:rPr lang="en-US" altLang="zh-CN">
                <a:solidFill>
                  <a:srgbClr val="FF0000"/>
                </a:solidFill>
                <a:latin typeface="华文仿宋" panose="02010600040101010101" charset="-122"/>
                <a:ea typeface="华文仿宋" panose="02010600040101010101" charset="-122"/>
                <a:cs typeface="华文仿宋" panose="02010600040101010101" charset="-122"/>
              </a:rPr>
              <a:t>payload</a:t>
            </a:r>
            <a:r>
              <a:rPr lang="zh-CN" altLang="en-US">
                <a:solidFill>
                  <a:srgbClr val="FF0000"/>
                </a:solidFill>
                <a:latin typeface="华文仿宋" panose="02010600040101010101" charset="-122"/>
                <a:ea typeface="华文仿宋" panose="02010600040101010101" charset="-122"/>
                <a:cs typeface="华文仿宋" panose="02010600040101010101" charset="-122"/>
              </a:rPr>
              <a:t>）中学习有效模式极为困难</a:t>
            </a:r>
            <a:endParaRPr lang="en-US" altLang="zh-CN">
              <a:solidFill>
                <a:srgbClr val="FF0000"/>
              </a:solidFill>
              <a:latin typeface="华文仿宋" panose="02010600040101010101" charset="-122"/>
              <a:ea typeface="华文仿宋" panose="02010600040101010101" charset="-122"/>
              <a:cs typeface="华文仿宋" panose="02010600040101010101" charset="-122"/>
            </a:endParaRPr>
          </a:p>
          <a:p>
            <a:pPr marL="285750" indent="-285750">
              <a:buFont typeface="Arial" panose="020B0604020202020204" pitchFamily="34" charset="0"/>
              <a:buChar char="•"/>
            </a:pPr>
            <a:endParaRPr lang="en-US" altLang="zh-CN">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17" name="文本框 16"/>
          <p:cNvSpPr txBox="1"/>
          <p:nvPr/>
        </p:nvSpPr>
        <p:spPr>
          <a:xfrm>
            <a:off x="6807200" y="3096260"/>
            <a:ext cx="4648835" cy="570865"/>
          </a:xfrm>
          <a:prstGeom prst="rect">
            <a:avLst/>
          </a:prstGeom>
          <a:noFill/>
        </p:spPr>
        <p:txBody>
          <a:bodyPr wrap="square" rtlCol="0" anchor="t">
            <a:noAutofit/>
          </a:bodyPr>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Comic Sans MS" panose="030F0702030302020204" pitchFamily="66" charset="0"/>
              </a:rPr>
              <a:t>先前研究采用不一致的数据清洗方法，导致模型在实际部署中出现显著性能偏差</a:t>
            </a:r>
            <a:endParaRPr lang="zh-CN" altLang="en-US">
              <a:latin typeface="华文仿宋" panose="02010600040101010101" charset="-122"/>
              <a:ea typeface="华文仿宋" panose="02010600040101010101" charset="-122"/>
              <a:cs typeface="Comic Sans MS" panose="030F0702030302020204" pitchFamily="66" charset="0"/>
            </a:endParaRPr>
          </a:p>
        </p:txBody>
      </p:sp>
      <p:sp>
        <p:nvSpPr>
          <p:cNvPr id="20" name="矩形 19"/>
          <p:cNvSpPr/>
          <p:nvPr>
            <p:custDataLst>
              <p:tags r:id="rId2"/>
            </p:custDataLst>
          </p:nvPr>
        </p:nvSpPr>
        <p:spPr>
          <a:xfrm>
            <a:off x="6677660" y="1283970"/>
            <a:ext cx="4779010" cy="2680970"/>
          </a:xfrm>
          <a:prstGeom prst="rect">
            <a:avLst/>
          </a:prstGeom>
          <a:noFill/>
          <a:ln w="28575"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Comic Sans MS" panose="030F0702030302020204" pitchFamily="66" charset="0"/>
              <a:cs typeface="Comic Sans MS" panose="030F0702030302020204" pitchFamily="66" charset="0"/>
            </a:endParaRPr>
          </a:p>
        </p:txBody>
      </p:sp>
      <p:sp>
        <p:nvSpPr>
          <p:cNvPr id="21" name="文本框 20"/>
          <p:cNvSpPr txBox="1"/>
          <p:nvPr/>
        </p:nvSpPr>
        <p:spPr>
          <a:xfrm>
            <a:off x="8224520" y="1082675"/>
            <a:ext cx="1627505" cy="325755"/>
          </a:xfrm>
          <a:prstGeom prst="rect">
            <a:avLst/>
          </a:prstGeom>
          <a:solidFill>
            <a:schemeClr val="accent1"/>
          </a:solidFill>
          <a:ln w="28575" cmpd="sng">
            <a:solidFill>
              <a:schemeClr val="accent1">
                <a:shade val="50000"/>
              </a:schemeClr>
            </a:solidFill>
            <a:prstDash val="solid"/>
          </a:ln>
        </p:spPr>
        <p:txBody>
          <a:bodyPr wrap="square" rtlCol="0">
            <a:noAutofit/>
          </a:bodyPr>
          <a:p>
            <a:pPr algn="ctr"/>
            <a:r>
              <a:rPr lang="en-US" altLang="zh-CN">
                <a:solidFill>
                  <a:schemeClr val="bg1"/>
                </a:solidFill>
                <a:latin typeface="Comic Sans MS" panose="030F0702030302020204" pitchFamily="66" charset="0"/>
                <a:cs typeface="Comic Sans MS" panose="030F0702030302020204" pitchFamily="66" charset="0"/>
              </a:rPr>
              <a:t>fingdings</a:t>
            </a:r>
            <a:endParaRPr lang="en-US" altLang="zh-CN">
              <a:solidFill>
                <a:schemeClr val="bg1"/>
              </a:solidFill>
              <a:latin typeface="Comic Sans MS" panose="030F0702030302020204" pitchFamily="66" charset="0"/>
              <a:cs typeface="Comic Sans MS" panose="030F0702030302020204" pitchFamily="66" charset="0"/>
            </a:endParaRPr>
          </a:p>
        </p:txBody>
      </p:sp>
      <p:sp>
        <p:nvSpPr>
          <p:cNvPr id="22" name="右箭头 21"/>
          <p:cNvSpPr/>
          <p:nvPr/>
        </p:nvSpPr>
        <p:spPr>
          <a:xfrm>
            <a:off x="5417820" y="2318385"/>
            <a:ext cx="979170" cy="48577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3161665" y="4688840"/>
            <a:ext cx="5297805" cy="628015"/>
          </a:xfrm>
          <a:prstGeom prst="rect">
            <a:avLst/>
          </a:prstGeom>
          <a:noFill/>
        </p:spPr>
        <p:txBody>
          <a:bodyPr wrap="square" rtlCol="0" anchor="t">
            <a:noAutofit/>
          </a:bodyPr>
          <a:p>
            <a:pPr marL="285750" indent="-285750">
              <a:buFont typeface="Arial" panose="020B0604020202020204" pitchFamily="34" charset="0"/>
              <a:buChar char="•"/>
            </a:pPr>
            <a:r>
              <a:rPr lang="zh-CN" altLang="en-US">
                <a:solidFill>
                  <a:srgbClr val="FF0000"/>
                </a:solidFill>
                <a:latin typeface="华文仿宋" panose="02010600040101010101" charset="-122"/>
                <a:ea typeface="华文仿宋" panose="02010600040101010101" charset="-122"/>
                <a:cs typeface="华文仿宋" panose="02010600040101010101" charset="-122"/>
              </a:rPr>
              <a:t>使用</a:t>
            </a:r>
            <a:r>
              <a:rPr lang="en-US" altLang="zh-CN">
                <a:solidFill>
                  <a:srgbClr val="FF0000"/>
                </a:solidFill>
                <a:latin typeface="华文仿宋" panose="02010600040101010101" charset="-122"/>
                <a:ea typeface="华文仿宋" panose="02010600040101010101" charset="-122"/>
                <a:cs typeface="华文仿宋" panose="02010600040101010101" charset="-122"/>
              </a:rPr>
              <a:t> per-flow split </a:t>
            </a:r>
            <a:r>
              <a:rPr lang="zh-CN" altLang="en-US">
                <a:solidFill>
                  <a:srgbClr val="FF0000"/>
                </a:solidFill>
                <a:latin typeface="华文仿宋" panose="02010600040101010101" charset="-122"/>
                <a:ea typeface="华文仿宋" panose="02010600040101010101" charset="-122"/>
                <a:cs typeface="华文仿宋" panose="02010600040101010101" charset="-122"/>
              </a:rPr>
              <a:t>替代</a:t>
            </a:r>
            <a:r>
              <a:rPr lang="en-US" altLang="zh-CN">
                <a:solidFill>
                  <a:srgbClr val="FF0000"/>
                </a:solidFill>
                <a:latin typeface="华文仿宋" panose="02010600040101010101" charset="-122"/>
                <a:ea typeface="华文仿宋" panose="02010600040101010101" charset="-122"/>
                <a:cs typeface="华文仿宋" panose="02010600040101010101" charset="-122"/>
              </a:rPr>
              <a:t> per-packet split</a:t>
            </a:r>
            <a:r>
              <a:rPr lang="zh-CN" altLang="en-US">
                <a:solidFill>
                  <a:srgbClr val="FF0000"/>
                </a:solidFill>
                <a:latin typeface="华文仿宋" panose="02010600040101010101" charset="-122"/>
                <a:ea typeface="华文仿宋" panose="02010600040101010101" charset="-122"/>
                <a:cs typeface="华文仿宋" panose="02010600040101010101" charset="-122"/>
              </a:rPr>
              <a:t>，以杜绝数据泄露</a:t>
            </a:r>
            <a:endParaRPr lang="zh-CN" altLang="en-US">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24" name="文本框 23"/>
          <p:cNvSpPr txBox="1"/>
          <p:nvPr/>
        </p:nvSpPr>
        <p:spPr>
          <a:xfrm>
            <a:off x="3161665" y="5260340"/>
            <a:ext cx="5452745" cy="772160"/>
          </a:xfrm>
          <a:prstGeom prst="rect">
            <a:avLst/>
          </a:prstGeom>
          <a:noFill/>
        </p:spPr>
        <p:txBody>
          <a:bodyPr wrap="square" rtlCol="0" anchor="t">
            <a:noAutofit/>
          </a:bodyPr>
          <a:p>
            <a:pPr marL="285750" indent="-285750">
              <a:buFont typeface="Arial" panose="020B0604020202020204" pitchFamily="34" charset="0"/>
              <a:buChar char="•"/>
            </a:pPr>
            <a:r>
              <a:rPr lang="zh-CN" altLang="en-US">
                <a:solidFill>
                  <a:srgbClr val="FF0000"/>
                </a:solidFill>
                <a:latin typeface="华文仿宋" panose="02010600040101010101" charset="-122"/>
                <a:ea typeface="华文仿宋" panose="02010600040101010101" charset="-122"/>
                <a:cs typeface="华文仿宋" panose="02010600040101010101" charset="-122"/>
              </a:rPr>
              <a:t>专注于从数据包标头中提取有效特征，而非依赖加密字段</a:t>
            </a:r>
            <a:endParaRPr lang="zh-CN" altLang="en-US">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25" name="文本框 24"/>
          <p:cNvSpPr txBox="1"/>
          <p:nvPr/>
        </p:nvSpPr>
        <p:spPr>
          <a:xfrm>
            <a:off x="3161665" y="5975985"/>
            <a:ext cx="5401310" cy="540385"/>
          </a:xfrm>
          <a:prstGeom prst="rect">
            <a:avLst/>
          </a:prstGeom>
          <a:noFill/>
        </p:spPr>
        <p:txBody>
          <a:bodyPr wrap="square" rtlCol="0" anchor="t">
            <a:noAutofit/>
          </a:bodyPr>
          <a:p>
            <a:pPr marL="285750" indent="-285750">
              <a:buFont typeface="Arial" panose="020B0604020202020204" pitchFamily="34" charset="0"/>
              <a:buChar char="•"/>
            </a:pPr>
            <a:r>
              <a:rPr lang="zh-CN" altLang="en-US">
                <a:solidFill>
                  <a:srgbClr val="FF0000"/>
                </a:solidFill>
                <a:latin typeface="华文仿宋" panose="02010600040101010101" charset="-122"/>
                <a:ea typeface="华文仿宋" panose="02010600040101010101" charset="-122"/>
                <a:cs typeface="Comic Sans MS" panose="030F0702030302020204" pitchFamily="66" charset="0"/>
              </a:rPr>
              <a:t>采用合理且一致的数据清洗方式，保证数据的完整性及结果的可比性</a:t>
            </a:r>
            <a:endParaRPr lang="zh-CN" altLang="en-US">
              <a:solidFill>
                <a:srgbClr val="FF0000"/>
              </a:solidFill>
              <a:latin typeface="华文仿宋" panose="02010600040101010101" charset="-122"/>
              <a:ea typeface="华文仿宋" panose="02010600040101010101" charset="-122"/>
              <a:cs typeface="Comic Sans MS" panose="030F0702030302020204" pitchFamily="66" charset="0"/>
            </a:endParaRPr>
          </a:p>
        </p:txBody>
      </p:sp>
      <p:sp>
        <p:nvSpPr>
          <p:cNvPr id="26" name="矩形 25"/>
          <p:cNvSpPr/>
          <p:nvPr>
            <p:custDataLst>
              <p:tags r:id="rId3"/>
            </p:custDataLst>
          </p:nvPr>
        </p:nvSpPr>
        <p:spPr>
          <a:xfrm>
            <a:off x="2714625" y="4429125"/>
            <a:ext cx="6247130" cy="2261870"/>
          </a:xfrm>
          <a:prstGeom prst="rect">
            <a:avLst/>
          </a:prstGeom>
          <a:noFill/>
          <a:ln w="28575"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Comic Sans MS" panose="030F0702030302020204" pitchFamily="66" charset="0"/>
              <a:cs typeface="Comic Sans MS" panose="030F0702030302020204" pitchFamily="66" charset="0"/>
            </a:endParaRPr>
          </a:p>
        </p:txBody>
      </p:sp>
      <p:sp>
        <p:nvSpPr>
          <p:cNvPr id="27" name="文本框 26"/>
          <p:cNvSpPr txBox="1"/>
          <p:nvPr/>
        </p:nvSpPr>
        <p:spPr>
          <a:xfrm>
            <a:off x="5021580" y="4237990"/>
            <a:ext cx="1656080" cy="339090"/>
          </a:xfrm>
          <a:prstGeom prst="rect">
            <a:avLst/>
          </a:prstGeom>
          <a:solidFill>
            <a:schemeClr val="accent1"/>
          </a:solidFill>
          <a:ln w="28575" cmpd="sng">
            <a:solidFill>
              <a:schemeClr val="accent1">
                <a:shade val="50000"/>
              </a:schemeClr>
            </a:solidFill>
            <a:prstDash val="solid"/>
          </a:ln>
        </p:spPr>
        <p:txBody>
          <a:bodyPr wrap="square" rtlCol="0">
            <a:noAutofit/>
          </a:bodyPr>
          <a:p>
            <a:pPr algn="ctr"/>
            <a:r>
              <a:rPr lang="en-US" altLang="zh-CN">
                <a:solidFill>
                  <a:schemeClr val="bg1"/>
                </a:solidFill>
                <a:latin typeface="Comic Sans MS" panose="030F0702030302020204" pitchFamily="66" charset="0"/>
                <a:cs typeface="Comic Sans MS" panose="030F0702030302020204" pitchFamily="66" charset="0"/>
              </a:rPr>
              <a:t>approach</a:t>
            </a:r>
            <a:endParaRPr lang="en-US" altLang="zh-CN">
              <a:solidFill>
                <a:schemeClr val="bg1"/>
              </a:solidFill>
              <a:latin typeface="Comic Sans MS" panose="030F0702030302020204" pitchFamily="66" charset="0"/>
              <a:cs typeface="Comic Sans MS" panose="030F0702030302020204" pitchFamily="66" charset="0"/>
            </a:endParaRPr>
          </a:p>
        </p:txBody>
      </p:sp>
      <p:sp>
        <p:nvSpPr>
          <p:cNvPr id="28" name="右弧形箭头 27"/>
          <p:cNvSpPr/>
          <p:nvPr/>
        </p:nvSpPr>
        <p:spPr>
          <a:xfrm>
            <a:off x="9057005" y="4043680"/>
            <a:ext cx="730885" cy="1216660"/>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048765" name="菱形 6"/>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04876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cxnSp>
        <p:nvCxnSpPr>
          <p:cNvPr id="3145743" name="直接连接符 21"/>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048767" name="文本框 7"/>
          <p:cNvSpPr txBox="1"/>
          <p:nvPr/>
        </p:nvSpPr>
        <p:spPr>
          <a:xfrm>
            <a:off x="1060238" y="225291"/>
            <a:ext cx="3843867" cy="521970"/>
          </a:xfrm>
          <a:prstGeom prst="rect">
            <a:avLst/>
          </a:prstGeom>
          <a:noFill/>
          <a:ln w="9525">
            <a:noFill/>
          </a:ln>
        </p:spPr>
        <p:txBody>
          <a:bodyPr wrap="square" anchor="t" anchorCtr="0">
            <a:spAutoFit/>
          </a:bodyPr>
          <a:lstStyle/>
          <a:p>
            <a:r>
              <a:rPr lang="en-US" altLang="zh-CN" sz="2800" b="1" dirty="0">
                <a:solidFill>
                  <a:srgbClr val="0072A9"/>
                </a:solidFill>
                <a:latin typeface="华文中宋" panose="02010600040101010101" charset="-122"/>
                <a:ea typeface="华文中宋" panose="02010600040101010101" charset="-122"/>
              </a:rPr>
              <a:t>Contribution</a:t>
            </a:r>
            <a:endParaRPr lang="en-US" altLang="zh-CN" sz="2800" b="1" dirty="0">
              <a:solidFill>
                <a:srgbClr val="0072A9"/>
              </a:solidFill>
              <a:latin typeface="华文中宋" panose="02010600040101010101" charset="-122"/>
              <a:ea typeface="华文中宋" panose="02010600040101010101" charset="-122"/>
            </a:endParaRPr>
          </a:p>
        </p:txBody>
      </p: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The Sweet of Danger</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2" name="文本框 1"/>
          <p:cNvSpPr txBox="1"/>
          <p:nvPr/>
        </p:nvSpPr>
        <p:spPr>
          <a:xfrm>
            <a:off x="700405" y="2190115"/>
            <a:ext cx="10106660" cy="749935"/>
          </a:xfrm>
          <a:prstGeom prst="rect">
            <a:avLst/>
          </a:prstGeom>
          <a:noFill/>
        </p:spPr>
        <p:txBody>
          <a:bodyPr wrap="square" rtlCol="0" anchor="t">
            <a:noAutofit/>
          </a:bodyPr>
          <a:p>
            <a:pPr marL="285750" indent="-285750">
              <a:buFont typeface="Arial" panose="020B0604020202020204" pitchFamily="34" charset="0"/>
              <a:buChar char="•"/>
            </a:pPr>
            <a:r>
              <a:rPr lang="zh-CN" altLang="en-US" b="1">
                <a:latin typeface="华文仿宋" panose="02010600040101010101" charset="-122"/>
                <a:ea typeface="华文仿宋" panose="02010600040101010101" charset="-122"/>
                <a:cs typeface="华文仿宋" panose="02010600040101010101" charset="-122"/>
              </a:rPr>
              <a:t>系统性批判现有方法：</a:t>
            </a:r>
            <a:r>
              <a:rPr lang="zh-CN" altLang="en-US">
                <a:latin typeface="华文仿宋" panose="02010600040101010101" charset="-122"/>
                <a:ea typeface="华文仿宋" panose="02010600040101010101" charset="-122"/>
                <a:cs typeface="华文仿宋" panose="02010600040101010101" charset="-122"/>
              </a:rPr>
              <a:t>指出多数现有工作在数据划分（</a:t>
            </a:r>
            <a:r>
              <a:rPr lang="en-US" altLang="zh-CN">
                <a:latin typeface="华文仿宋" panose="02010600040101010101" charset="-122"/>
                <a:ea typeface="华文仿宋" panose="02010600040101010101" charset="-122"/>
                <a:cs typeface="华文仿宋" panose="02010600040101010101" charset="-122"/>
              </a:rPr>
              <a:t>per-packet split</a:t>
            </a:r>
            <a:r>
              <a:rPr lang="zh-CN" altLang="en-US">
                <a:latin typeface="华文仿宋" panose="02010600040101010101" charset="-122"/>
                <a:ea typeface="华文仿宋" panose="02010600040101010101" charset="-122"/>
                <a:cs typeface="华文仿宋" panose="02010600040101010101" charset="-122"/>
              </a:rPr>
              <a:t>）、预训练任务设计、评估方式上存在严重缺陷。</a:t>
            </a:r>
            <a:endParaRPr lang="zh-CN" altLang="en-US">
              <a:latin typeface="华文仿宋" panose="02010600040101010101" charset="-122"/>
              <a:ea typeface="华文仿宋" panose="02010600040101010101" charset="-122"/>
              <a:cs typeface="华文仿宋" panose="02010600040101010101" charset="-122"/>
            </a:endParaRPr>
          </a:p>
        </p:txBody>
      </p:sp>
      <p:sp>
        <p:nvSpPr>
          <p:cNvPr id="3" name="文本框 2"/>
          <p:cNvSpPr txBox="1"/>
          <p:nvPr/>
        </p:nvSpPr>
        <p:spPr>
          <a:xfrm>
            <a:off x="700405" y="3159125"/>
            <a:ext cx="10043160" cy="368300"/>
          </a:xfrm>
          <a:prstGeom prst="rect">
            <a:avLst/>
          </a:prstGeom>
          <a:noFill/>
        </p:spPr>
        <p:txBody>
          <a:bodyPr wrap="square" rtlCol="0" anchor="t">
            <a:spAutoFit/>
          </a:bodyPr>
          <a:p>
            <a:pPr marL="285750" indent="-285750">
              <a:buFont typeface="Arial" panose="020B0604020202020204" pitchFamily="34" charset="0"/>
              <a:buChar char="•"/>
            </a:pPr>
            <a:r>
              <a:rPr lang="zh-CN" altLang="en-US" b="1">
                <a:latin typeface="华文仿宋" panose="02010600040101010101" charset="-122"/>
                <a:ea typeface="华文仿宋" panose="02010600040101010101" charset="-122"/>
                <a:cs typeface="华文仿宋" panose="02010600040101010101" charset="-122"/>
              </a:rPr>
              <a:t>提出新的评估框架：</a:t>
            </a:r>
            <a:r>
              <a:rPr lang="zh-CN" altLang="en-US">
                <a:latin typeface="华文仿宋" panose="02010600040101010101" charset="-122"/>
                <a:ea typeface="华文仿宋" panose="02010600040101010101" charset="-122"/>
                <a:cs typeface="华文仿宋" panose="02010600040101010101" charset="-122"/>
              </a:rPr>
              <a:t>强调应使用</a:t>
            </a:r>
            <a:r>
              <a:rPr lang="en-US" altLang="zh-CN">
                <a:latin typeface="华文仿宋" panose="02010600040101010101" charset="-122"/>
                <a:ea typeface="华文仿宋" panose="02010600040101010101" charset="-122"/>
                <a:cs typeface="华文仿宋" panose="02010600040101010101" charset="-122"/>
              </a:rPr>
              <a:t> per-flow split </a:t>
            </a:r>
            <a:r>
              <a:rPr lang="zh-CN" altLang="en-US">
                <a:latin typeface="华文仿宋" panose="02010600040101010101" charset="-122"/>
                <a:ea typeface="华文仿宋" panose="02010600040101010101" charset="-122"/>
                <a:cs typeface="华文仿宋" panose="02010600040101010101" charset="-122"/>
              </a:rPr>
              <a:t>和</a:t>
            </a:r>
            <a:r>
              <a:rPr lang="en-US" altLang="zh-CN">
                <a:latin typeface="华文仿宋" panose="02010600040101010101" charset="-122"/>
                <a:ea typeface="华文仿宋" panose="02010600040101010101" charset="-122"/>
                <a:cs typeface="华文仿宋" panose="02010600040101010101" charset="-122"/>
              </a:rPr>
              <a:t> frozen encoder </a:t>
            </a:r>
            <a:r>
              <a:rPr lang="zh-CN" altLang="en-US">
                <a:latin typeface="华文仿宋" panose="02010600040101010101" charset="-122"/>
                <a:ea typeface="华文仿宋" panose="02010600040101010101" charset="-122"/>
                <a:cs typeface="华文仿宋" panose="02010600040101010101" charset="-122"/>
              </a:rPr>
              <a:t>来检验表示学习的有效性。</a:t>
            </a:r>
            <a:endParaRPr lang="zh-CN" altLang="en-US">
              <a:latin typeface="华文仿宋" panose="02010600040101010101" charset="-122"/>
              <a:ea typeface="华文仿宋" panose="02010600040101010101" charset="-122"/>
              <a:cs typeface="华文仿宋" panose="02010600040101010101" charset="-122"/>
            </a:endParaRPr>
          </a:p>
        </p:txBody>
      </p:sp>
      <p:sp>
        <p:nvSpPr>
          <p:cNvPr id="19" name="文本框 18"/>
          <p:cNvSpPr txBox="1"/>
          <p:nvPr/>
        </p:nvSpPr>
        <p:spPr>
          <a:xfrm>
            <a:off x="700405" y="3840480"/>
            <a:ext cx="9873615" cy="368300"/>
          </a:xfrm>
          <a:prstGeom prst="rect">
            <a:avLst/>
          </a:prstGeom>
          <a:noFill/>
        </p:spPr>
        <p:txBody>
          <a:bodyPr wrap="square" rtlCol="0" anchor="t">
            <a:spAutoFit/>
          </a:bodyPr>
          <a:p>
            <a:pPr marL="285750" indent="-285750">
              <a:buFont typeface="Arial" panose="020B0604020202020204" pitchFamily="34" charset="0"/>
              <a:buChar char="•"/>
            </a:pPr>
            <a:r>
              <a:rPr lang="zh-CN" altLang="en-US" b="1">
                <a:latin typeface="华文仿宋" panose="02010600040101010101" charset="-122"/>
                <a:ea typeface="华文仿宋" panose="02010600040101010101" charset="-122"/>
                <a:cs typeface="华文仿宋" panose="02010600040101010101" charset="-122"/>
              </a:rPr>
              <a:t>提出新模型：</a:t>
            </a:r>
            <a:r>
              <a:rPr lang="en-US" altLang="zh-CN">
                <a:latin typeface="华文仿宋" panose="02010600040101010101" charset="-122"/>
                <a:ea typeface="华文仿宋" panose="02010600040101010101" charset="-122"/>
                <a:cs typeface="华文仿宋" panose="02010600040101010101" charset="-122"/>
              </a:rPr>
              <a:t>Pcap-Encoder</a:t>
            </a:r>
            <a:r>
              <a:rPr lang="zh-CN" altLang="en-US">
                <a:latin typeface="华文仿宋" panose="02010600040101010101" charset="-122"/>
                <a:ea typeface="华文仿宋" panose="02010600040101010101" charset="-122"/>
                <a:cs typeface="华文仿宋" panose="02010600040101010101" charset="-122"/>
              </a:rPr>
              <a:t>：基于</a:t>
            </a:r>
            <a:r>
              <a:rPr lang="en-US" altLang="zh-CN">
                <a:latin typeface="华文仿宋" panose="02010600040101010101" charset="-122"/>
                <a:ea typeface="华文仿宋" panose="02010600040101010101" charset="-122"/>
                <a:cs typeface="华文仿宋" panose="02010600040101010101" charset="-122"/>
              </a:rPr>
              <a:t>T5</a:t>
            </a:r>
            <a:r>
              <a:rPr lang="zh-CN" altLang="en-US">
                <a:latin typeface="华文仿宋" panose="02010600040101010101" charset="-122"/>
                <a:ea typeface="华文仿宋" panose="02010600040101010101" charset="-122"/>
                <a:cs typeface="华文仿宋" panose="02010600040101010101" charset="-122"/>
              </a:rPr>
              <a:t>架构，专注于从协议头部提取语义信息，忽略加密载荷</a:t>
            </a:r>
            <a:r>
              <a:rPr lang="zh-CN" altLang="en-US">
                <a:latin typeface="Comic Sans MS" panose="030F0702030302020204" pitchFamily="66" charset="0"/>
                <a:cs typeface="Comic Sans MS" panose="030F0702030302020204" pitchFamily="66" charset="0"/>
              </a:rPr>
              <a:t>。</a:t>
            </a:r>
            <a:endParaRPr lang="zh-CN" altLang="en-US">
              <a:latin typeface="Comic Sans MS" panose="030F0702030302020204" pitchFamily="66" charset="0"/>
              <a:cs typeface="Comic Sans MS" panose="030F0702030302020204" pitchFamily="66" charset="0"/>
            </a:endParaRPr>
          </a:p>
        </p:txBody>
      </p:sp>
      <p:sp>
        <p:nvSpPr>
          <p:cNvPr id="9" name="矩形 8"/>
          <p:cNvSpPr/>
          <p:nvPr>
            <p:custDataLst>
              <p:tags r:id="rId1"/>
            </p:custDataLst>
          </p:nvPr>
        </p:nvSpPr>
        <p:spPr>
          <a:xfrm>
            <a:off x="567690" y="1828800"/>
            <a:ext cx="10734675" cy="3598545"/>
          </a:xfrm>
          <a:prstGeom prst="rect">
            <a:avLst/>
          </a:prstGeom>
          <a:noFill/>
          <a:ln w="28575" cmpd="sng">
            <a:solidFill>
              <a:schemeClr val="accent1">
                <a:shade val="5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Comic Sans MS" panose="030F0702030302020204" pitchFamily="66" charset="0"/>
              <a:cs typeface="Comic Sans MS" panose="030F0702030302020204" pitchFamily="66" charset="0"/>
            </a:endParaRPr>
          </a:p>
        </p:txBody>
      </p:sp>
      <p:sp>
        <p:nvSpPr>
          <p:cNvPr id="4" name="文本框 3"/>
          <p:cNvSpPr txBox="1"/>
          <p:nvPr/>
        </p:nvSpPr>
        <p:spPr>
          <a:xfrm>
            <a:off x="700405" y="4643755"/>
            <a:ext cx="9732010" cy="368300"/>
          </a:xfrm>
          <a:prstGeom prst="rect">
            <a:avLst/>
          </a:prstGeom>
          <a:noFill/>
        </p:spPr>
        <p:txBody>
          <a:bodyPr wrap="square" rtlCol="0" anchor="t">
            <a:spAutoFit/>
          </a:bodyPr>
          <a:p>
            <a:pPr marL="285750" indent="-285750">
              <a:buFont typeface="Arial" panose="020B0604020202020204" pitchFamily="34" charset="0"/>
              <a:buChar char="•"/>
            </a:pPr>
            <a:r>
              <a:rPr lang="zh-CN" altLang="en-US" b="1">
                <a:latin typeface="华文仿宋" panose="02010600040101010101" charset="-122"/>
                <a:ea typeface="华文仿宋" panose="02010600040101010101" charset="-122"/>
                <a:cs typeface="Comic Sans MS" panose="030F0702030302020204" pitchFamily="66" charset="0"/>
              </a:rPr>
              <a:t>公开代码与数据集：</a:t>
            </a:r>
            <a:r>
              <a:rPr lang="zh-CN" altLang="en-US">
                <a:latin typeface="华文仿宋" panose="02010600040101010101" charset="-122"/>
                <a:ea typeface="华文仿宋" panose="02010600040101010101" charset="-122"/>
                <a:cs typeface="Comic Sans MS" panose="030F0702030302020204" pitchFamily="66" charset="0"/>
              </a:rPr>
              <a:t>提供可复现的基准测试框架，促进社区健康发展</a:t>
            </a:r>
            <a:r>
              <a:rPr lang="zh-CN" altLang="en-US">
                <a:latin typeface="Comic Sans MS" panose="030F0702030302020204" pitchFamily="66" charset="0"/>
                <a:cs typeface="Comic Sans MS" panose="030F0702030302020204" pitchFamily="66" charset="0"/>
              </a:rPr>
              <a:t>。</a:t>
            </a:r>
            <a:endParaRPr lang="zh-CN" altLang="en-US">
              <a:latin typeface="Comic Sans MS" panose="030F0702030302020204" pitchFamily="66" charset="0"/>
              <a:cs typeface="Comic Sans MS" panose="030F0702030302020204" pitchFamily="66"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矩形 11"/>
          <p:cNvSpPr/>
          <p:nvPr/>
        </p:nvSpPr>
        <p:spPr>
          <a:xfrm>
            <a:off x="1" y="0"/>
            <a:ext cx="3533774" cy="6858000"/>
          </a:xfrm>
          <a:prstGeom prst="rect">
            <a:avLst/>
          </a:prstGeom>
          <a:solidFill>
            <a:srgbClr val="2E75B5"/>
          </a:solidFill>
          <a:ln w="9525">
            <a:noFill/>
          </a:ln>
        </p:spPr>
        <p:txBody>
          <a:bodyPr anchor="ctr" anchorCtr="0"/>
          <a:lstStyle/>
          <a:p>
            <a:pPr algn="ctr"/>
            <a:endParaRPr lang="zh-CN" altLang="zh-CN">
              <a:solidFill>
                <a:srgbClr val="FFFFFF"/>
              </a:solidFill>
              <a:latin typeface="华文中宋" panose="02010600040101010101" charset="-122"/>
              <a:ea typeface="华文中宋" panose="02010600040101010101" charset="-122"/>
              <a:sym typeface="Arial" panose="020B0604020202020204" pitchFamily="34" charset="0"/>
            </a:endParaRPr>
          </a:p>
        </p:txBody>
      </p:sp>
      <p:grpSp>
        <p:nvGrpSpPr>
          <p:cNvPr id="51" name="组合 20"/>
          <p:cNvGrpSpPr/>
          <p:nvPr/>
        </p:nvGrpSpPr>
        <p:grpSpPr>
          <a:xfrm>
            <a:off x="1058863" y="2670175"/>
            <a:ext cx="2034001" cy="1662318"/>
            <a:chOff x="0" y="0"/>
            <a:chExt cx="2033282" cy="1609703"/>
          </a:xfrm>
        </p:grpSpPr>
        <p:sp>
          <p:nvSpPr>
            <p:cNvPr id="1048640" name="文本框 7"/>
            <p:cNvSpPr/>
            <p:nvPr/>
          </p:nvSpPr>
          <p:spPr>
            <a:xfrm>
              <a:off x="0" y="0"/>
              <a:ext cx="1858622" cy="1035494"/>
            </a:xfrm>
            <a:prstGeom prst="rect">
              <a:avLst/>
            </a:prstGeom>
            <a:noFill/>
            <a:ln w="9525">
              <a:noFill/>
            </a:ln>
          </p:spPr>
          <p:txBody>
            <a:bodyPr wrap="none" anchor="t" anchorCtr="0">
              <a:spAutoFit/>
            </a:bodyPr>
            <a:lstStyle/>
            <a:p>
              <a:r>
                <a:rPr lang="zh-CN" altLang="en-US" sz="6600">
                  <a:solidFill>
                    <a:schemeClr val="bg1"/>
                  </a:solidFill>
                  <a:latin typeface="华文中宋" panose="02010600040101010101" charset="-122"/>
                  <a:ea typeface="华文中宋" panose="02010600040101010101" charset="-122"/>
                  <a:sym typeface="微软雅黑" panose="020B0503020204020204" charset="-122"/>
                </a:rPr>
                <a:t>目录</a:t>
              </a:r>
              <a:endParaRPr lang="zh-CN" altLang="en-US" sz="6600">
                <a:solidFill>
                  <a:schemeClr val="bg1"/>
                </a:solidFill>
                <a:latin typeface="华文中宋" panose="02010600040101010101" charset="-122"/>
                <a:ea typeface="华文中宋" panose="02010600040101010101" charset="-122"/>
                <a:sym typeface="微软雅黑" panose="020B0503020204020204" charset="-122"/>
              </a:endParaRPr>
            </a:p>
          </p:txBody>
        </p:sp>
        <p:sp>
          <p:nvSpPr>
            <p:cNvPr id="1048641" name="文本框 8"/>
            <p:cNvSpPr/>
            <p:nvPr/>
          </p:nvSpPr>
          <p:spPr>
            <a:xfrm>
              <a:off x="9618" y="943149"/>
              <a:ext cx="2023664" cy="666554"/>
            </a:xfrm>
            <a:prstGeom prst="rect">
              <a:avLst/>
            </a:prstGeom>
            <a:noFill/>
            <a:ln w="9525">
              <a:noFill/>
            </a:ln>
          </p:spPr>
          <p:txBody>
            <a:bodyPr wrap="none" anchor="t" anchorCtr="0">
              <a:spAutoFit/>
            </a:bodyPr>
            <a:lstStyle/>
            <a:p>
              <a:r>
                <a:rPr lang="en-US" altLang="zh-CN" sz="4000">
                  <a:solidFill>
                    <a:schemeClr val="bg1"/>
                  </a:solidFill>
                  <a:latin typeface="华文中宋" panose="02010600040101010101" charset="-122"/>
                  <a:ea typeface="华文中宋" panose="02010600040101010101" charset="-122"/>
                  <a:sym typeface="Arial" panose="020B0604020202020204" pitchFamily="34" charset="0"/>
                </a:rPr>
                <a:t>content</a:t>
              </a:r>
              <a:endParaRPr lang="en-US" altLang="zh-CN" sz="4000">
                <a:solidFill>
                  <a:schemeClr val="bg1"/>
                </a:solidFill>
                <a:latin typeface="华文中宋" panose="02010600040101010101" charset="-122"/>
                <a:ea typeface="华文中宋" panose="02010600040101010101" charset="-122"/>
                <a:sym typeface="Arial" panose="020B0604020202020204" pitchFamily="34" charset="0"/>
              </a:endParaRPr>
            </a:p>
          </p:txBody>
        </p:sp>
      </p:grpSp>
      <p:sp>
        <p:nvSpPr>
          <p:cNvPr id="1048642" name="文本框 5"/>
          <p:cNvSpPr/>
          <p:nvPr>
            <p:custDataLst>
              <p:tags r:id="rId1"/>
            </p:custDataLst>
          </p:nvPr>
        </p:nvSpPr>
        <p:spPr>
          <a:xfrm>
            <a:off x="4010025" y="1211580"/>
            <a:ext cx="7866380"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1  Background and motivation</a:t>
            </a:r>
            <a:endPar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3" name="文本框 11"/>
          <p:cNvSpPr/>
          <p:nvPr>
            <p:custDataLst>
              <p:tags r:id="rId2"/>
            </p:custDataLst>
          </p:nvPr>
        </p:nvSpPr>
        <p:spPr>
          <a:xfrm>
            <a:off x="4010025" y="2429510"/>
            <a:ext cx="6000115" cy="706755"/>
          </a:xfrm>
          <a:prstGeom prst="rect">
            <a:avLst/>
          </a:prstGeom>
          <a:noFill/>
          <a:ln w="9525">
            <a:noFill/>
          </a:ln>
        </p:spPr>
        <p:txBody>
          <a:bodyPr wrap="square" anchor="t" anchorCtr="0">
            <a:spAutoFit/>
          </a:bodyPr>
          <a:lstStyle/>
          <a:p>
            <a:r>
              <a:rPr lang="en-US" alt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2  </a:t>
            </a:r>
            <a:r>
              <a:rPr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Approach</a:t>
            </a:r>
            <a:endParaRPr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4" name="文本框 12"/>
          <p:cNvSpPr/>
          <p:nvPr>
            <p:custDataLst>
              <p:tags r:id="rId3"/>
            </p:custDataLst>
          </p:nvPr>
        </p:nvSpPr>
        <p:spPr>
          <a:xfrm>
            <a:off x="4010025" y="4866005"/>
            <a:ext cx="8107680"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4  T</a:t>
            </a:r>
            <a:r>
              <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hinking and inspiration</a:t>
            </a:r>
            <a:endPar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5" name="文本框 11"/>
          <p:cNvSpPr/>
          <p:nvPr>
            <p:custDataLst>
              <p:tags r:id="rId4"/>
            </p:custDataLst>
          </p:nvPr>
        </p:nvSpPr>
        <p:spPr>
          <a:xfrm>
            <a:off x="4010025" y="3648075"/>
            <a:ext cx="754316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3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Experiment</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6"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87"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8" name="文本框 7"/>
          <p:cNvSpPr txBox="1"/>
          <p:nvPr/>
        </p:nvSpPr>
        <p:spPr>
          <a:xfrm>
            <a:off x="1152948" y="86861"/>
            <a:ext cx="5435177" cy="107632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Approach</a:t>
            </a:r>
            <a:endParaRPr lang="zh-CN" altLang="en-US" sz="3200" b="1" dirty="0">
              <a:solidFill>
                <a:srgbClr val="0072A9"/>
              </a:solidFill>
              <a:latin typeface="华文中宋" panose="02010600040101010101" charset="-122"/>
              <a:ea typeface="华文中宋" panose="02010600040101010101" charset="-122"/>
              <a:sym typeface="+mn-ea"/>
            </a:endParaRPr>
          </a:p>
          <a:p>
            <a:endParaRPr lang="zh-CN" altLang="en-US" sz="3200" b="1" dirty="0">
              <a:solidFill>
                <a:srgbClr val="0072A9"/>
              </a:solidFill>
              <a:latin typeface="华文中宋" panose="02010600040101010101" charset="-122"/>
              <a:ea typeface="华文中宋" panose="02010600040101010101" charset="-122"/>
            </a:endParaRPr>
          </a:p>
        </p:txBody>
      </p:sp>
      <p:cxnSp>
        <p:nvCxnSpPr>
          <p:cNvPr id="3145728"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Data cleaning</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2" name="文本框 1"/>
          <p:cNvSpPr txBox="1"/>
          <p:nvPr/>
        </p:nvSpPr>
        <p:spPr>
          <a:xfrm>
            <a:off x="700405" y="1464945"/>
            <a:ext cx="10106660" cy="749935"/>
          </a:xfrm>
          <a:prstGeom prst="rect">
            <a:avLst/>
          </a:prstGeom>
          <a:noFill/>
        </p:spPr>
        <p:txBody>
          <a:bodyPr wrap="square" rtlCol="0" anchor="t">
            <a:noAutofit/>
          </a:bodyPr>
          <a:p>
            <a:pPr marL="285750" indent="-285750">
              <a:buFont typeface="Arial" panose="020B0604020202020204" pitchFamily="34" charset="0"/>
              <a:buChar char="•"/>
            </a:pPr>
            <a:r>
              <a:rPr lang="zh-CN" altLang="en-US" b="1">
                <a:latin typeface="+mn-ea"/>
                <a:cs typeface="华文仿宋" panose="02010600040101010101" charset="-122"/>
              </a:rPr>
              <a:t>过滤无关协议</a:t>
            </a:r>
            <a:r>
              <a:rPr lang="zh-CN" altLang="en-US" b="1">
                <a:latin typeface="华文仿宋" panose="02010600040101010101" charset="-122"/>
                <a:ea typeface="华文仿宋" panose="02010600040101010101" charset="-122"/>
                <a:cs typeface="华文仿宋" panose="02010600040101010101" charset="-122"/>
              </a:rPr>
              <a:t>：移除与分类任务无关的协议（如</a:t>
            </a:r>
            <a:r>
              <a:rPr lang="en-US" altLang="zh-CN" b="1">
                <a:latin typeface="华文仿宋" panose="02010600040101010101" charset="-122"/>
                <a:ea typeface="华文仿宋" panose="02010600040101010101" charset="-122"/>
                <a:cs typeface="华文仿宋" panose="02010600040101010101" charset="-122"/>
              </a:rPr>
              <a:t>ARP</a:t>
            </a:r>
            <a:r>
              <a:rPr lang="zh-CN" altLang="en-US" b="1">
                <a:latin typeface="华文仿宋" panose="02010600040101010101" charset="-122"/>
                <a:ea typeface="华文仿宋" panose="02010600040101010101" charset="-122"/>
                <a:cs typeface="华文仿宋" panose="02010600040101010101" charset="-122"/>
              </a:rPr>
              <a:t>、</a:t>
            </a:r>
            <a:r>
              <a:rPr lang="en-US" altLang="zh-CN" b="1">
                <a:latin typeface="华文仿宋" panose="02010600040101010101" charset="-122"/>
                <a:ea typeface="华文仿宋" panose="02010600040101010101" charset="-122"/>
                <a:cs typeface="华文仿宋" panose="02010600040101010101" charset="-122"/>
              </a:rPr>
              <a:t>DHCP</a:t>
            </a:r>
            <a:r>
              <a:rPr lang="zh-CN" altLang="en-US" b="1">
                <a:latin typeface="华文仿宋" panose="02010600040101010101" charset="-122"/>
                <a:ea typeface="华文仿宋" panose="02010600040101010101" charset="-122"/>
                <a:cs typeface="华文仿宋" panose="02010600040101010101" charset="-122"/>
              </a:rPr>
              <a:t>、广播协议等）</a:t>
            </a:r>
            <a:r>
              <a:rPr lang="en-US" altLang="zh-CN" b="1">
                <a:latin typeface="华文仿宋" panose="02010600040101010101" charset="-122"/>
                <a:ea typeface="华文仿宋" panose="02010600040101010101" charset="-122"/>
                <a:cs typeface="华文仿宋" panose="02010600040101010101" charset="-122"/>
              </a:rPr>
              <a:t>——</a:t>
            </a:r>
            <a:r>
              <a:rPr lang="zh-CN" altLang="en-US" b="1">
                <a:solidFill>
                  <a:srgbClr val="FF0000"/>
                </a:solidFill>
                <a:latin typeface="华文仿宋" panose="02010600040101010101" charset="-122"/>
                <a:ea typeface="华文仿宋" panose="02010600040101010101" charset="-122"/>
                <a:cs typeface="华文仿宋" panose="02010600040101010101" charset="-122"/>
              </a:rPr>
              <a:t>这些协议通常与目标任务（如应用识别、恶意流量分类）无关，若保留可能干扰模型训练或引入噪声</a:t>
            </a:r>
            <a:r>
              <a:rPr lang="zh-CN" altLang="en-US" b="1">
                <a:latin typeface="华文仿宋" panose="02010600040101010101" charset="-122"/>
                <a:ea typeface="华文仿宋" panose="02010600040101010101" charset="-122"/>
                <a:cs typeface="华文仿宋" panose="02010600040101010101" charset="-122"/>
              </a:rPr>
              <a:t>。</a:t>
            </a:r>
            <a:endParaRPr lang="zh-CN" altLang="en-US" b="1">
              <a:latin typeface="华文仿宋" panose="02010600040101010101" charset="-122"/>
              <a:ea typeface="华文仿宋" panose="02010600040101010101" charset="-122"/>
              <a:cs typeface="华文仿宋" panose="02010600040101010101" charset="-122"/>
            </a:endParaRPr>
          </a:p>
        </p:txBody>
      </p:sp>
      <p:sp>
        <p:nvSpPr>
          <p:cNvPr id="3" name="文本框 2"/>
          <p:cNvSpPr txBox="1"/>
          <p:nvPr/>
        </p:nvSpPr>
        <p:spPr>
          <a:xfrm>
            <a:off x="700405" y="2607945"/>
            <a:ext cx="10106660" cy="749935"/>
          </a:xfrm>
          <a:prstGeom prst="rect">
            <a:avLst/>
          </a:prstGeom>
          <a:noFill/>
        </p:spPr>
        <p:txBody>
          <a:bodyPr wrap="square" rtlCol="0" anchor="t">
            <a:noAutofit/>
          </a:bodyPr>
          <a:p>
            <a:pPr marL="285750" indent="-285750">
              <a:buFont typeface="Arial" panose="020B0604020202020204" pitchFamily="34" charset="0"/>
              <a:buChar char="•"/>
            </a:pPr>
            <a:r>
              <a:rPr lang="zh-CN" altLang="en-US" b="1">
                <a:latin typeface="+mn-ea"/>
                <a:cs typeface="华文仿宋" panose="02010600040101010101" charset="-122"/>
              </a:rPr>
              <a:t>避免基于最小尺寸的过滤</a:t>
            </a:r>
            <a:r>
              <a:rPr lang="zh-CN" altLang="en-US" b="1">
                <a:latin typeface="华文仿宋" panose="02010600040101010101" charset="-122"/>
                <a:ea typeface="华文仿宋" panose="02010600040101010101" charset="-122"/>
                <a:cs typeface="华文仿宋" panose="02010600040101010101" charset="-122"/>
              </a:rPr>
              <a:t>：不根据包大小或流长度进行过滤（例如不移除</a:t>
            </a:r>
            <a:r>
              <a:rPr lang="en-US" altLang="zh-CN" b="1">
                <a:latin typeface="华文仿宋" panose="02010600040101010101" charset="-122"/>
                <a:ea typeface="华文仿宋" panose="02010600040101010101" charset="-122"/>
                <a:cs typeface="华文仿宋" panose="02010600040101010101" charset="-122"/>
              </a:rPr>
              <a:t>80</a:t>
            </a:r>
            <a:r>
              <a:rPr lang="zh-CN" altLang="en-US" b="1">
                <a:latin typeface="华文仿宋" panose="02010600040101010101" charset="-122"/>
                <a:ea typeface="华文仿宋" panose="02010600040101010101" charset="-122"/>
                <a:cs typeface="华文仿宋" panose="02010600040101010101" charset="-122"/>
              </a:rPr>
              <a:t>字节的包或短流）。</a:t>
            </a:r>
            <a:r>
              <a:rPr lang="en-US" altLang="zh-CN" b="1">
                <a:latin typeface="华文仿宋" panose="02010600040101010101" charset="-122"/>
                <a:ea typeface="华文仿宋" panose="02010600040101010101" charset="-122"/>
                <a:cs typeface="华文仿宋" panose="02010600040101010101" charset="-122"/>
              </a:rPr>
              <a:t>——</a:t>
            </a:r>
            <a:r>
              <a:rPr lang="zh-CN" altLang="en-US" b="1">
                <a:solidFill>
                  <a:srgbClr val="FF0000"/>
                </a:solidFill>
                <a:latin typeface="华文仿宋" panose="02010600040101010101" charset="-122"/>
                <a:ea typeface="华文仿宋" panose="02010600040101010101" charset="-122"/>
                <a:cs typeface="华文仿宋" panose="02010600040101010101" charset="-122"/>
              </a:rPr>
              <a:t>这类过滤会改变数据分布，可能丢失重要信号（如</a:t>
            </a:r>
            <a:r>
              <a:rPr lang="en-US" altLang="zh-CN" b="1">
                <a:solidFill>
                  <a:srgbClr val="FF0000"/>
                </a:solidFill>
                <a:latin typeface="华文仿宋" panose="02010600040101010101" charset="-122"/>
                <a:ea typeface="华文仿宋" panose="02010600040101010101" charset="-122"/>
                <a:cs typeface="华文仿宋" panose="02010600040101010101" charset="-122"/>
              </a:rPr>
              <a:t>TCP</a:t>
            </a:r>
            <a:r>
              <a:rPr lang="zh-CN" altLang="en-US" b="1">
                <a:solidFill>
                  <a:srgbClr val="FF0000"/>
                </a:solidFill>
                <a:latin typeface="华文仿宋" panose="02010600040101010101" charset="-122"/>
                <a:ea typeface="华文仿宋" panose="02010600040101010101" charset="-122"/>
                <a:cs typeface="华文仿宋" panose="02010600040101010101" charset="-122"/>
              </a:rPr>
              <a:t>握手包、确认包），影响模型泛化能力。</a:t>
            </a:r>
            <a:r>
              <a:rPr lang="zh-CN" altLang="en-US" b="1">
                <a:latin typeface="华文仿宋" panose="02010600040101010101" charset="-122"/>
                <a:ea typeface="华文仿宋" panose="02010600040101010101" charset="-122"/>
                <a:cs typeface="华文仿宋" panose="02010600040101010101" charset="-122"/>
              </a:rPr>
              <a:t>对于先前工作（如</a:t>
            </a:r>
            <a:r>
              <a:rPr lang="en-US" altLang="zh-CN" b="1">
                <a:latin typeface="华文仿宋" panose="02010600040101010101" charset="-122"/>
                <a:ea typeface="华文仿宋" panose="02010600040101010101" charset="-122"/>
                <a:cs typeface="华文仿宋" panose="02010600040101010101" charset="-122"/>
              </a:rPr>
              <a:t>ET-BERT</a:t>
            </a:r>
            <a:r>
              <a:rPr lang="zh-CN" altLang="en-US" b="1">
                <a:latin typeface="华文仿宋" panose="02010600040101010101" charset="-122"/>
                <a:ea typeface="华文仿宋" panose="02010600040101010101" charset="-122"/>
                <a:cs typeface="华文仿宋" panose="02010600040101010101" charset="-122"/>
              </a:rPr>
              <a:t>、</a:t>
            </a:r>
            <a:r>
              <a:rPr lang="en-US" altLang="zh-CN" b="1">
                <a:latin typeface="华文仿宋" panose="02010600040101010101" charset="-122"/>
                <a:ea typeface="华文仿宋" panose="02010600040101010101" charset="-122"/>
                <a:cs typeface="华文仿宋" panose="02010600040101010101" charset="-122"/>
              </a:rPr>
              <a:t>TrafficFormer</a:t>
            </a:r>
            <a:r>
              <a:rPr lang="zh-CN" altLang="en-US" b="1">
                <a:latin typeface="华文仿宋" panose="02010600040101010101" charset="-122"/>
                <a:ea typeface="华文仿宋" panose="02010600040101010101" charset="-122"/>
                <a:cs typeface="华文仿宋" panose="02010600040101010101" charset="-122"/>
              </a:rPr>
              <a:t>）会过滤小包或短流，作者认为这种做法</a:t>
            </a:r>
            <a:r>
              <a:rPr lang="zh-CN" altLang="en-US" b="1">
                <a:latin typeface="华文仿宋" panose="02010600040101010101" charset="-122"/>
                <a:ea typeface="华文仿宋" panose="02010600040101010101" charset="-122"/>
                <a:cs typeface="华文仿宋" panose="02010600040101010101" charset="-122"/>
              </a:rPr>
              <a:t>不合理</a:t>
            </a:r>
            <a:endParaRPr lang="zh-CN" altLang="en-US" b="1">
              <a:latin typeface="华文仿宋" panose="02010600040101010101" charset="-122"/>
              <a:ea typeface="华文仿宋" panose="02010600040101010101" charset="-122"/>
              <a:cs typeface="华文仿宋" panose="02010600040101010101" charset="-122"/>
            </a:endParaRPr>
          </a:p>
        </p:txBody>
      </p:sp>
      <p:sp>
        <p:nvSpPr>
          <p:cNvPr id="4" name="文本框 3"/>
          <p:cNvSpPr txBox="1"/>
          <p:nvPr/>
        </p:nvSpPr>
        <p:spPr>
          <a:xfrm>
            <a:off x="700405" y="4068445"/>
            <a:ext cx="10106660" cy="749935"/>
          </a:xfrm>
          <a:prstGeom prst="rect">
            <a:avLst/>
          </a:prstGeom>
          <a:noFill/>
        </p:spPr>
        <p:txBody>
          <a:bodyPr wrap="square" rtlCol="0" anchor="t">
            <a:noAutofit/>
          </a:bodyPr>
          <a:p>
            <a:pPr marL="285750" indent="-285750">
              <a:buFont typeface="Arial" panose="020B0604020202020204" pitchFamily="34" charset="0"/>
              <a:buChar char="•"/>
            </a:pPr>
            <a:r>
              <a:rPr lang="zh-CN" altLang="en-US" b="1">
                <a:latin typeface="+mn-ea"/>
                <a:cs typeface="华文仿宋" panose="02010600040101010101" charset="-122"/>
              </a:rPr>
              <a:t>保证类别分布完整性</a:t>
            </a:r>
            <a:r>
              <a:rPr lang="zh-CN" altLang="en-US" b="1">
                <a:latin typeface="华文仿宋" panose="02010600040101010101" charset="-122"/>
                <a:ea typeface="华文仿宋" panose="02010600040101010101" charset="-122"/>
                <a:cs typeface="华文仿宋" panose="02010600040101010101" charset="-122"/>
              </a:rPr>
              <a:t>：在测试集中不进行类别平衡或过采样</a:t>
            </a:r>
            <a:r>
              <a:rPr lang="en-US" altLang="zh-CN" b="1">
                <a:latin typeface="华文仿宋" panose="02010600040101010101" charset="-122"/>
                <a:ea typeface="华文仿宋" panose="02010600040101010101" charset="-122"/>
                <a:cs typeface="华文仿宋" panose="02010600040101010101" charset="-122"/>
              </a:rPr>
              <a:t>/</a:t>
            </a:r>
            <a:r>
              <a:rPr lang="zh-CN" altLang="en-US" b="1">
                <a:latin typeface="华文仿宋" panose="02010600040101010101" charset="-122"/>
                <a:ea typeface="华文仿宋" panose="02010600040101010101" charset="-122"/>
                <a:cs typeface="华文仿宋" panose="02010600040101010101" charset="-122"/>
              </a:rPr>
              <a:t>欠采样，保持原始数据分布；仅在训练集可适当进行类别平衡</a:t>
            </a:r>
            <a:r>
              <a:rPr lang="en-US" altLang="zh-CN" b="1">
                <a:latin typeface="华文仿宋" panose="02010600040101010101" charset="-122"/>
                <a:ea typeface="华文仿宋" panose="02010600040101010101" charset="-122"/>
                <a:cs typeface="华文仿宋" panose="02010600040101010101" charset="-122"/>
              </a:rPr>
              <a:t>——</a:t>
            </a:r>
            <a:r>
              <a:rPr lang="zh-CN" altLang="en-US" b="1">
                <a:solidFill>
                  <a:srgbClr val="FF0000"/>
                </a:solidFill>
                <a:latin typeface="华文仿宋" panose="02010600040101010101" charset="-122"/>
                <a:ea typeface="华文仿宋" panose="02010600040101010101" charset="-122"/>
                <a:cs typeface="华文仿宋" panose="02010600040101010101" charset="-122"/>
              </a:rPr>
              <a:t>测试集应反映真实场景中的类别分布，避免因人为平衡导致性能评估失真，训练时可采用平衡采样来处理类别不平衡</a:t>
            </a:r>
            <a:endParaRPr lang="zh-CN" altLang="en-US" b="1">
              <a:solidFill>
                <a:srgbClr val="FF0000"/>
              </a:solidFill>
              <a:latin typeface="华文仿宋" panose="02010600040101010101" charset="-122"/>
              <a:ea typeface="华文仿宋" panose="02010600040101010101" charset="-122"/>
              <a:cs typeface="华文仿宋" panose="02010600040101010101" charset="-122"/>
            </a:endParaRPr>
          </a:p>
        </p:txBody>
      </p:sp>
      <p:sp>
        <p:nvSpPr>
          <p:cNvPr id="7" name="文本框 6"/>
          <p:cNvSpPr txBox="1"/>
          <p:nvPr/>
        </p:nvSpPr>
        <p:spPr>
          <a:xfrm>
            <a:off x="700405" y="5273675"/>
            <a:ext cx="10106660" cy="749935"/>
          </a:xfrm>
          <a:prstGeom prst="rect">
            <a:avLst/>
          </a:prstGeom>
          <a:noFill/>
        </p:spPr>
        <p:txBody>
          <a:bodyPr wrap="square" rtlCol="0" anchor="t">
            <a:noAutofit/>
          </a:bodyPr>
          <a:p>
            <a:pPr marL="285750" indent="-285750">
              <a:buFont typeface="Arial" panose="020B0604020202020204" pitchFamily="34" charset="0"/>
              <a:buChar char="•"/>
            </a:pPr>
            <a:r>
              <a:rPr lang="zh-CN" altLang="en-US" b="1">
                <a:latin typeface="+mn-ea"/>
                <a:cs typeface="华文仿宋" panose="02010600040101010101" charset="-122"/>
              </a:rPr>
              <a:t>头部信息匿名化或保留</a:t>
            </a:r>
            <a:r>
              <a:rPr lang="zh-CN" altLang="en-US" b="1">
                <a:latin typeface="华文仿宋" panose="02010600040101010101" charset="-122"/>
                <a:ea typeface="华文仿宋" panose="02010600040101010101" charset="-122"/>
                <a:cs typeface="华文仿宋" panose="02010600040101010101" charset="-122"/>
              </a:rPr>
              <a:t>：在预训练阶段保留所有头部信息，在下游任务中可根据需要选择是否匿名化（如随机化</a:t>
            </a:r>
            <a:r>
              <a:rPr lang="en-US" altLang="zh-CN" b="1">
                <a:latin typeface="华文仿宋" panose="02010600040101010101" charset="-122"/>
                <a:ea typeface="华文仿宋" panose="02010600040101010101" charset="-122"/>
                <a:cs typeface="华文仿宋" panose="02010600040101010101" charset="-122"/>
              </a:rPr>
              <a:t>IP</a:t>
            </a:r>
            <a:r>
              <a:rPr lang="zh-CN" altLang="en-US" b="1">
                <a:latin typeface="华文仿宋" panose="02010600040101010101" charset="-122"/>
                <a:ea typeface="华文仿宋" panose="02010600040101010101" charset="-122"/>
                <a:cs typeface="华文仿宋" panose="02010600040101010101" charset="-122"/>
              </a:rPr>
              <a:t>、端口）</a:t>
            </a:r>
            <a:r>
              <a:rPr lang="en-US" altLang="zh-CN" b="1">
                <a:latin typeface="华文仿宋" panose="02010600040101010101" charset="-122"/>
                <a:ea typeface="华文仿宋" panose="02010600040101010101" charset="-122"/>
                <a:cs typeface="华文仿宋" panose="02010600040101010101" charset="-122"/>
              </a:rPr>
              <a:t>——</a:t>
            </a:r>
            <a:r>
              <a:rPr lang="zh-CN" altLang="en-US" b="1">
                <a:solidFill>
                  <a:srgbClr val="FF0000"/>
                </a:solidFill>
                <a:latin typeface="华文仿宋" panose="02010600040101010101" charset="-122"/>
                <a:ea typeface="华文仿宋" panose="02010600040101010101" charset="-122"/>
                <a:cs typeface="华文仿宋" panose="02010600040101010101" charset="-122"/>
              </a:rPr>
              <a:t>预训练需充分利用头部结构信息学习通用表示；下游任务匿名化可迫使模型学习更泛化的特征，避免记忆特定</a:t>
            </a:r>
            <a:r>
              <a:rPr lang="en-US" altLang="zh-CN" b="1">
                <a:solidFill>
                  <a:srgbClr val="FF0000"/>
                </a:solidFill>
                <a:latin typeface="华文仿宋" panose="02010600040101010101" charset="-122"/>
                <a:ea typeface="华文仿宋" panose="02010600040101010101" charset="-122"/>
                <a:cs typeface="华文仿宋" panose="02010600040101010101" charset="-122"/>
              </a:rPr>
              <a:t>IP</a:t>
            </a:r>
            <a:r>
              <a:rPr lang="zh-CN" altLang="en-US" b="1">
                <a:solidFill>
                  <a:srgbClr val="FF0000"/>
                </a:solidFill>
                <a:latin typeface="华文仿宋" panose="02010600040101010101" charset="-122"/>
                <a:ea typeface="华文仿宋" panose="02010600040101010101" charset="-122"/>
                <a:cs typeface="华文仿宋" panose="02010600040101010101" charset="-122"/>
              </a:rPr>
              <a:t>或端口</a:t>
            </a:r>
            <a:endParaRPr lang="zh-CN" altLang="en-US" b="1">
              <a:latin typeface="华文仿宋" panose="02010600040101010101" charset="-122"/>
              <a:ea typeface="华文仿宋" panose="02010600040101010101" charset="-122"/>
              <a:cs typeface="华文仿宋" panose="02010600040101010101"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6"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87"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8" name="文本框 7"/>
          <p:cNvSpPr txBox="1"/>
          <p:nvPr/>
        </p:nvSpPr>
        <p:spPr>
          <a:xfrm>
            <a:off x="1152948" y="86861"/>
            <a:ext cx="5435177" cy="107632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Approach</a:t>
            </a:r>
            <a:endParaRPr lang="zh-CN" altLang="en-US" sz="3200" b="1" dirty="0">
              <a:solidFill>
                <a:srgbClr val="0072A9"/>
              </a:solidFill>
              <a:latin typeface="华文中宋" panose="02010600040101010101" charset="-122"/>
              <a:ea typeface="华文中宋" panose="02010600040101010101" charset="-122"/>
              <a:sym typeface="+mn-ea"/>
            </a:endParaRPr>
          </a:p>
          <a:p>
            <a:endParaRPr lang="zh-CN" altLang="en-US" sz="3200" b="1" dirty="0">
              <a:solidFill>
                <a:srgbClr val="0072A9"/>
              </a:solidFill>
              <a:latin typeface="华文中宋" panose="02010600040101010101" charset="-122"/>
              <a:ea typeface="华文中宋" panose="02010600040101010101" charset="-122"/>
            </a:endParaRPr>
          </a:p>
        </p:txBody>
      </p:sp>
      <p:cxnSp>
        <p:nvCxnSpPr>
          <p:cNvPr id="3145728"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Dataset Splitting </a:t>
            </a:r>
            <a:endParaRPr lang="en-US" altLang="zh-CN" sz="2800" dirty="0">
              <a:solidFill>
                <a:schemeClr val="bg1"/>
              </a:solidFill>
              <a:latin typeface="华文中宋" panose="02010600040101010101" charset="-122"/>
              <a:ea typeface="华文中宋" panose="02010600040101010101" charset="-122"/>
              <a:sym typeface="+mn-ea"/>
            </a:endParaRPr>
          </a:p>
        </p:txBody>
      </p:sp>
      <p:pic>
        <p:nvPicPr>
          <p:cNvPr id="2" name="图片 1"/>
          <p:cNvPicPr>
            <a:picLocks noChangeAspect="1"/>
          </p:cNvPicPr>
          <p:nvPr/>
        </p:nvPicPr>
        <p:blipFill>
          <a:blip r:embed="rId1"/>
          <a:stretch>
            <a:fillRect/>
          </a:stretch>
        </p:blipFill>
        <p:spPr>
          <a:xfrm>
            <a:off x="2274570" y="1403985"/>
            <a:ext cx="7094855" cy="4843145"/>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6"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87"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88" name="文本框 7"/>
          <p:cNvSpPr txBox="1"/>
          <p:nvPr/>
        </p:nvSpPr>
        <p:spPr>
          <a:xfrm>
            <a:off x="1152948" y="86861"/>
            <a:ext cx="5435177" cy="107632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Approach</a:t>
            </a:r>
            <a:endParaRPr lang="zh-CN" altLang="en-US" sz="3200" b="1" dirty="0">
              <a:solidFill>
                <a:srgbClr val="0072A9"/>
              </a:solidFill>
              <a:latin typeface="华文中宋" panose="02010600040101010101" charset="-122"/>
              <a:ea typeface="华文中宋" panose="02010600040101010101" charset="-122"/>
              <a:sym typeface="+mn-ea"/>
            </a:endParaRPr>
          </a:p>
          <a:p>
            <a:endParaRPr lang="zh-CN" altLang="en-US" sz="3200" b="1" dirty="0">
              <a:solidFill>
                <a:srgbClr val="0072A9"/>
              </a:solidFill>
              <a:latin typeface="华文中宋" panose="02010600040101010101" charset="-122"/>
              <a:ea typeface="华文中宋" panose="02010600040101010101" charset="-122"/>
            </a:endParaRPr>
          </a:p>
        </p:txBody>
      </p:sp>
      <p:cxnSp>
        <p:nvCxnSpPr>
          <p:cNvPr id="3145728"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Pcap-Encoder </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84" name="文本框 83"/>
          <p:cNvSpPr txBox="1"/>
          <p:nvPr>
            <p:custDataLst>
              <p:tags r:id="rId1"/>
            </p:custDataLst>
          </p:nvPr>
        </p:nvSpPr>
        <p:spPr>
          <a:xfrm>
            <a:off x="7405989" y="2940908"/>
            <a:ext cx="4061361" cy="432435"/>
          </a:xfrm>
          <a:prstGeom prst="rect">
            <a:avLst/>
          </a:prstGeom>
          <a:solidFill>
            <a:srgbClr val="1F98F9">
              <a:lumMod val="20000"/>
              <a:lumOff val="80000"/>
            </a:srgbClr>
          </a:solidFill>
        </p:spPr>
        <p:txBody>
          <a:bodyPr wrap="square" anchor="ctr" anchorCtr="1">
            <a:noAutofit/>
          </a:bodyPr>
          <a:lstStyle>
            <a:defPPr>
              <a:defRPr lang="zh-CN"/>
            </a:defPPr>
            <a:lvl1pPr algn="ctr">
              <a:defRPr sz="1600" b="1">
                <a:solidFill>
                  <a:schemeClr val="accent1"/>
                </a:solidFill>
              </a:defRPr>
            </a:lvl1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en-US" altLang="zh-CN"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Phase1:</a:t>
            </a:r>
            <a:r>
              <a:rPr kumimoji="0" lang="zh-CN" altLang="en-US"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自编码器</a:t>
            </a:r>
            <a:r>
              <a:rPr kumimoji="0" lang="zh-CN" altLang="en-US"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重建</a:t>
            </a:r>
            <a:endParaRPr kumimoji="0" lang="zh-CN" altLang="en-US"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endParaRPr>
          </a:p>
        </p:txBody>
      </p:sp>
      <p:grpSp>
        <p:nvGrpSpPr>
          <p:cNvPr id="86" name="组合 85"/>
          <p:cNvGrpSpPr/>
          <p:nvPr/>
        </p:nvGrpSpPr>
        <p:grpSpPr>
          <a:xfrm>
            <a:off x="7651444" y="1760027"/>
            <a:ext cx="1025610" cy="887756"/>
            <a:chOff x="377824" y="944033"/>
            <a:chExt cx="1025610" cy="887756"/>
          </a:xfrm>
        </p:grpSpPr>
        <p:sp>
          <p:nvSpPr>
            <p:cNvPr id="87" name="矩形 86"/>
            <p:cNvSpPr/>
            <p:nvPr/>
          </p:nvSpPr>
          <p:spPr>
            <a:xfrm>
              <a:off x="999442" y="944033"/>
              <a:ext cx="403992" cy="887756"/>
            </a:xfrm>
            <a:prstGeom prst="rect">
              <a:avLst/>
            </a:prstGeom>
            <a:gradFill flip="none" rotWithShape="1">
              <a:gsLst>
                <a:gs pos="0">
                  <a:srgbClr val="FFFFFF"/>
                </a:gs>
                <a:gs pos="84000">
                  <a:srgbClr val="0379D8">
                    <a:lumMod val="20000"/>
                    <a:lumOff val="80000"/>
                  </a:srgbClr>
                </a:gs>
              </a:gsLst>
              <a:lin ang="1080000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88" name="矩形: 圆角 87"/>
            <p:cNvSpPr/>
            <p:nvPr/>
          </p:nvSpPr>
          <p:spPr>
            <a:xfrm>
              <a:off x="377824" y="944033"/>
              <a:ext cx="704850" cy="887756"/>
            </a:xfrm>
            <a:prstGeom prst="roundRect">
              <a:avLst>
                <a:gd name="adj" fmla="val 4888"/>
              </a:avLst>
            </a:prstGeom>
            <a:solidFill>
              <a:srgbClr val="003A98"/>
            </a:solidFill>
            <a:ln w="12700" cap="flat" cmpd="sng" algn="ctr">
              <a:solidFill>
                <a:srgbClr val="003A98">
                  <a:shade val="50000"/>
                </a:srgbClr>
              </a:solidFill>
              <a:prstDash val="solid"/>
              <a:miter lim="800000"/>
            </a:ln>
            <a:effectLst/>
          </p:spPr>
          <p:txBody>
            <a:bodyPr rtlCol="0" anchor="ctr" anchorCtr="1"/>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核心</a:t>
              </a:r>
              <a:br>
                <a:rPr kumimoji="0" lang="en-US" altLang="zh-CN" sz="16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br>
              <a:r>
                <a:rPr kumimoji="0" lang="zh-CN" altLang="en-US" sz="16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任务</a:t>
              </a:r>
              <a:endParaRPr kumimoji="0" lang="zh-CN" altLang="en-US" sz="16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grpSp>
      <p:sp>
        <p:nvSpPr>
          <p:cNvPr id="89" name="文本框 88"/>
          <p:cNvSpPr txBox="1"/>
          <p:nvPr/>
        </p:nvSpPr>
        <p:spPr>
          <a:xfrm>
            <a:off x="8442108" y="1951598"/>
            <a:ext cx="2692548" cy="73723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利用双阶段训练，捕获字节之间的上下文关系，并自动提取某些数据包标头字段的</a:t>
            </a:r>
            <a:r>
              <a:rPr kumimoji="0" lang="zh-CN" altLang="en-US" sz="14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rPr>
              <a:t>语义</a:t>
            </a:r>
            <a:endParaRPr kumimoji="0" lang="zh-CN" altLang="en-US" sz="1400" b="1" i="0" u="none" strike="noStrike" kern="1200" cap="none" spc="0" normalizeH="0" baseline="0" noProof="0" dirty="0">
              <a:ln>
                <a:noFill/>
              </a:ln>
              <a:solidFill>
                <a:srgbClr val="000000"/>
              </a:solidFill>
              <a:effectLst/>
              <a:uLnTx/>
              <a:uFillTx/>
              <a:latin typeface="Arial" panose="020B0604020202020204"/>
              <a:ea typeface="微软雅黑" panose="020B0503020204020204" charset="-122"/>
              <a:cs typeface="+mn-cs"/>
            </a:endParaRPr>
          </a:p>
        </p:txBody>
      </p:sp>
      <p:sp>
        <p:nvSpPr>
          <p:cNvPr id="98" name="文本框 97"/>
          <p:cNvSpPr txBox="1"/>
          <p:nvPr>
            <p:custDataLst>
              <p:tags r:id="rId2"/>
            </p:custDataLst>
          </p:nvPr>
        </p:nvSpPr>
        <p:spPr>
          <a:xfrm>
            <a:off x="7409027" y="4201496"/>
            <a:ext cx="4058323" cy="432435"/>
          </a:xfrm>
          <a:prstGeom prst="rect">
            <a:avLst/>
          </a:prstGeom>
          <a:solidFill>
            <a:srgbClr val="1F98F9">
              <a:lumMod val="20000"/>
              <a:lumOff val="80000"/>
            </a:srgbClr>
          </a:solidFill>
        </p:spPr>
        <p:txBody>
          <a:bodyPr wrap="square" anchor="ctr" anchorCtr="1">
            <a:noAutofit/>
          </a:bodyPr>
          <a:lstStyle>
            <a:defPPr>
              <a:defRPr lang="zh-CN"/>
            </a:defPPr>
            <a:lvl1pPr algn="ctr">
              <a:defRPr sz="1600" b="1">
                <a:solidFill>
                  <a:schemeClr val="accent1"/>
                </a:solidFill>
              </a:defRPr>
            </a:lvl1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charset="0"/>
              <a:buNone/>
              <a:defRPr/>
            </a:pPr>
            <a:r>
              <a:rPr kumimoji="0" lang="en-US" altLang="zh-CN"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Phase2:</a:t>
            </a:r>
            <a:r>
              <a:rPr kumimoji="0" lang="zh-CN" altLang="en-US"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问答任务</a:t>
            </a:r>
            <a:r>
              <a:rPr kumimoji="0" lang="en-US" altLang="zh-CN"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(Q&amp;</a:t>
            </a:r>
            <a:r>
              <a:rPr kumimoji="0" lang="en-US" altLang="zh-CN"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rPr>
              <a:t>A)</a:t>
            </a:r>
            <a:endParaRPr kumimoji="0" lang="en-US" altLang="zh-CN" sz="1600" b="1" i="0" u="none" strike="noStrike" kern="0" cap="none" spc="0" normalizeH="0" baseline="0" noProof="0" dirty="0">
              <a:ln>
                <a:noFill/>
              </a:ln>
              <a:solidFill>
                <a:srgbClr val="003A98"/>
              </a:solidFill>
              <a:effectLst/>
              <a:uLnTx/>
              <a:uFillTx/>
              <a:latin typeface="Arial" panose="020B0604020202020204"/>
              <a:ea typeface="微软雅黑" panose="020B0503020204020204" charset="-122"/>
              <a:cs typeface="+mn-cs"/>
            </a:endParaRPr>
          </a:p>
        </p:txBody>
      </p:sp>
      <p:sp>
        <p:nvSpPr>
          <p:cNvPr id="100" name="圆角矩形 27"/>
          <p:cNvSpPr/>
          <p:nvPr>
            <p:custDataLst>
              <p:tags r:id="rId3"/>
            </p:custDataLst>
          </p:nvPr>
        </p:nvSpPr>
        <p:spPr>
          <a:xfrm>
            <a:off x="7280007" y="1642396"/>
            <a:ext cx="4328789" cy="4579741"/>
          </a:xfrm>
          <a:prstGeom prst="roundRect">
            <a:avLst>
              <a:gd name="adj" fmla="val 3932"/>
            </a:avLst>
          </a:prstGeom>
          <a:noFill/>
          <a:ln w="12700" cap="flat" cmpd="sng" algn="ctr">
            <a:solidFill>
              <a:srgbClr val="003A98"/>
            </a:solidFill>
            <a:prstDash val="sysDash"/>
            <a:miter lim="800000"/>
          </a:ln>
          <a:effectLst/>
          <a:extLst>
            <a:ext uri="{909E8E84-426E-40DD-AFC4-6F175D3DCCD1}">
              <a14:hiddenFill xmlns:a14="http://schemas.microsoft.com/office/drawing/2010/main">
                <a:solidFill>
                  <a:schemeClr val="accent1"/>
                </a:solidFill>
              </a14:hiddenFill>
            </a:ext>
          </a:ex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微软雅黑" panose="020B0503020204020204" charset="-122"/>
              <a:cs typeface="+mn-cs"/>
            </a:endParaRPr>
          </a:p>
        </p:txBody>
      </p:sp>
      <p:sp>
        <p:nvSpPr>
          <p:cNvPr id="44" name="文本框 43"/>
          <p:cNvSpPr txBox="1"/>
          <p:nvPr/>
        </p:nvSpPr>
        <p:spPr>
          <a:xfrm>
            <a:off x="7532494" y="3470294"/>
            <a:ext cx="3859382"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sym typeface="+mn-ea"/>
              </a:rPr>
              <a:t>基于</a:t>
            </a:r>
            <a:r>
              <a:rPr lang="en-US" altLang="zh-CN" sz="1600">
                <a:sym typeface="+mn-ea"/>
              </a:rPr>
              <a:t>MAE</a:t>
            </a:r>
            <a:r>
              <a:rPr lang="zh-CN" altLang="en-US" sz="1600">
                <a:sym typeface="+mn-ea"/>
              </a:rPr>
              <a:t>学习从原始字节流中提取有用表示。</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46" name="文本框 45"/>
          <p:cNvSpPr txBox="1"/>
          <p:nvPr/>
        </p:nvSpPr>
        <p:spPr>
          <a:xfrm>
            <a:off x="7532239" y="4826941"/>
            <a:ext cx="3929396" cy="5835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a:sym typeface="+mn-ea"/>
              </a:rPr>
              <a:t>训练模型回答关于协议头部的问题（如</a:t>
            </a:r>
            <a:r>
              <a:rPr lang="en-US" altLang="zh-CN" sz="1600">
                <a:sym typeface="+mn-ea"/>
              </a:rPr>
              <a:t>IP</a:t>
            </a:r>
            <a:r>
              <a:rPr lang="zh-CN" altLang="en-US" sz="1600">
                <a:sym typeface="+mn-ea"/>
              </a:rPr>
              <a:t>地址、</a:t>
            </a:r>
            <a:r>
              <a:rPr lang="en-US" altLang="zh-CN" sz="1600">
                <a:sym typeface="+mn-ea"/>
              </a:rPr>
              <a:t>TTL</a:t>
            </a:r>
            <a:r>
              <a:rPr lang="zh-CN" altLang="en-US" sz="1600">
                <a:sym typeface="+mn-ea"/>
              </a:rPr>
              <a:t>、校验和等），强化语义理解</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p:txBody>
      </p:sp>
      <p:sp>
        <p:nvSpPr>
          <p:cNvPr id="85" name="矩形标注 21"/>
          <p:cNvSpPr/>
          <p:nvPr/>
        </p:nvSpPr>
        <p:spPr>
          <a:xfrm>
            <a:off x="630555" y="1222375"/>
            <a:ext cx="11301095" cy="5462905"/>
          </a:xfrm>
          <a:prstGeom prst="rect">
            <a:avLst/>
          </a:prstGeom>
          <a:noFill/>
          <a:ln w="12700" cap="flat" cmpd="sng" algn="ctr">
            <a:solidFill>
              <a:srgbClr val="003A98">
                <a:shade val="50000"/>
              </a:srgbClr>
            </a:solidFill>
            <a:prstDash val="solid"/>
            <a:miter lim="800000"/>
          </a:ln>
          <a:effectLst/>
        </p:spPr>
        <p:txBody>
          <a:bodyPr rtlCol="0" anchor="ctr"/>
          <a:lstStyle/>
          <a:p>
            <a:pPr marL="0" marR="0" lvl="1"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a:p>
            <a:pPr marL="0" marR="0" lvl="1"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a:p>
            <a:pPr marL="0" marR="0" lvl="1"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a:p>
            <a:pPr marL="0" marR="0" lvl="1"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a:p>
            <a:pPr marL="0" marR="0" lvl="1" indent="0" algn="l"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0" cap="none" spc="0" normalizeH="0" baseline="0" noProof="0" dirty="0">
              <a:ln>
                <a:noFill/>
              </a:ln>
              <a:solidFill>
                <a:srgbClr val="FFFFFF"/>
              </a:solidFill>
              <a:effectLst/>
              <a:uLnTx/>
              <a:uFillTx/>
              <a:latin typeface="Arial" panose="020B0604020202020204"/>
              <a:ea typeface="微软雅黑" panose="020B0503020204020204" charset="-122"/>
              <a:cs typeface="+mn-cs"/>
            </a:endParaRPr>
          </a:p>
        </p:txBody>
      </p:sp>
      <p:pic>
        <p:nvPicPr>
          <p:cNvPr id="6" name="图片 5"/>
          <p:cNvPicPr>
            <a:picLocks noChangeAspect="1"/>
          </p:cNvPicPr>
          <p:nvPr/>
        </p:nvPicPr>
        <p:blipFill>
          <a:blip r:embed="rId4"/>
          <a:stretch>
            <a:fillRect/>
          </a:stretch>
        </p:blipFill>
        <p:spPr>
          <a:xfrm>
            <a:off x="811530" y="1267460"/>
            <a:ext cx="5988050" cy="5276215"/>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矩形 11"/>
          <p:cNvSpPr/>
          <p:nvPr/>
        </p:nvSpPr>
        <p:spPr>
          <a:xfrm>
            <a:off x="1" y="0"/>
            <a:ext cx="3533774" cy="6858000"/>
          </a:xfrm>
          <a:prstGeom prst="rect">
            <a:avLst/>
          </a:prstGeom>
          <a:solidFill>
            <a:srgbClr val="2E75B5"/>
          </a:solidFill>
          <a:ln w="9525">
            <a:noFill/>
          </a:ln>
        </p:spPr>
        <p:txBody>
          <a:bodyPr anchor="ctr" anchorCtr="0"/>
          <a:lstStyle/>
          <a:p>
            <a:pPr algn="ctr"/>
            <a:endParaRPr lang="zh-CN" altLang="zh-CN">
              <a:solidFill>
                <a:srgbClr val="FFFFFF"/>
              </a:solidFill>
              <a:latin typeface="华文中宋" panose="02010600040101010101" charset="-122"/>
              <a:ea typeface="华文中宋" panose="02010600040101010101" charset="-122"/>
              <a:sym typeface="Arial" panose="020B0604020202020204" pitchFamily="34" charset="0"/>
            </a:endParaRPr>
          </a:p>
        </p:txBody>
      </p:sp>
      <p:grpSp>
        <p:nvGrpSpPr>
          <p:cNvPr id="51" name="组合 20"/>
          <p:cNvGrpSpPr/>
          <p:nvPr/>
        </p:nvGrpSpPr>
        <p:grpSpPr>
          <a:xfrm>
            <a:off x="1058863" y="2670175"/>
            <a:ext cx="2034001" cy="1662318"/>
            <a:chOff x="0" y="0"/>
            <a:chExt cx="2033282" cy="1609703"/>
          </a:xfrm>
        </p:grpSpPr>
        <p:sp>
          <p:nvSpPr>
            <p:cNvPr id="1048640" name="文本框 7"/>
            <p:cNvSpPr/>
            <p:nvPr/>
          </p:nvSpPr>
          <p:spPr>
            <a:xfrm>
              <a:off x="0" y="0"/>
              <a:ext cx="1858622" cy="1035494"/>
            </a:xfrm>
            <a:prstGeom prst="rect">
              <a:avLst/>
            </a:prstGeom>
            <a:noFill/>
            <a:ln w="9525">
              <a:noFill/>
            </a:ln>
          </p:spPr>
          <p:txBody>
            <a:bodyPr wrap="none" anchor="t" anchorCtr="0">
              <a:spAutoFit/>
            </a:bodyPr>
            <a:lstStyle/>
            <a:p>
              <a:r>
                <a:rPr lang="zh-CN" altLang="en-US" sz="6600">
                  <a:solidFill>
                    <a:schemeClr val="bg1"/>
                  </a:solidFill>
                  <a:latin typeface="华文中宋" panose="02010600040101010101" charset="-122"/>
                  <a:ea typeface="华文中宋" panose="02010600040101010101" charset="-122"/>
                  <a:sym typeface="微软雅黑" panose="020B0503020204020204" charset="-122"/>
                </a:rPr>
                <a:t>目录</a:t>
              </a:r>
              <a:endParaRPr lang="zh-CN" altLang="en-US" sz="6600">
                <a:solidFill>
                  <a:schemeClr val="bg1"/>
                </a:solidFill>
                <a:latin typeface="华文中宋" panose="02010600040101010101" charset="-122"/>
                <a:ea typeface="华文中宋" panose="02010600040101010101" charset="-122"/>
                <a:sym typeface="微软雅黑" panose="020B0503020204020204" charset="-122"/>
              </a:endParaRPr>
            </a:p>
          </p:txBody>
        </p:sp>
        <p:sp>
          <p:nvSpPr>
            <p:cNvPr id="1048641" name="文本框 8"/>
            <p:cNvSpPr/>
            <p:nvPr/>
          </p:nvSpPr>
          <p:spPr>
            <a:xfrm>
              <a:off x="9618" y="943149"/>
              <a:ext cx="2023664" cy="666554"/>
            </a:xfrm>
            <a:prstGeom prst="rect">
              <a:avLst/>
            </a:prstGeom>
            <a:noFill/>
            <a:ln w="9525">
              <a:noFill/>
            </a:ln>
          </p:spPr>
          <p:txBody>
            <a:bodyPr wrap="none" anchor="t" anchorCtr="0">
              <a:spAutoFit/>
            </a:bodyPr>
            <a:lstStyle/>
            <a:p>
              <a:r>
                <a:rPr lang="en-US" altLang="zh-CN" sz="4000">
                  <a:solidFill>
                    <a:schemeClr val="bg1"/>
                  </a:solidFill>
                  <a:latin typeface="华文中宋" panose="02010600040101010101" charset="-122"/>
                  <a:ea typeface="华文中宋" panose="02010600040101010101" charset="-122"/>
                  <a:sym typeface="Arial" panose="020B0604020202020204" pitchFamily="34" charset="0"/>
                </a:rPr>
                <a:t>content</a:t>
              </a:r>
              <a:endParaRPr lang="en-US" altLang="zh-CN" sz="4000">
                <a:solidFill>
                  <a:schemeClr val="bg1"/>
                </a:solidFill>
                <a:latin typeface="华文中宋" panose="02010600040101010101" charset="-122"/>
                <a:ea typeface="华文中宋" panose="02010600040101010101" charset="-122"/>
                <a:sym typeface="Arial" panose="020B0604020202020204" pitchFamily="34" charset="0"/>
              </a:endParaRPr>
            </a:p>
          </p:txBody>
        </p:sp>
      </p:grpSp>
      <p:sp>
        <p:nvSpPr>
          <p:cNvPr id="1048642" name="文本框 5"/>
          <p:cNvSpPr/>
          <p:nvPr/>
        </p:nvSpPr>
        <p:spPr>
          <a:xfrm>
            <a:off x="4010025" y="1211580"/>
            <a:ext cx="7866380" cy="1322070"/>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1  Background and motivation</a:t>
            </a:r>
            <a:endPar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a:p>
            <a:endPar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3" name="文本框 11"/>
          <p:cNvSpPr/>
          <p:nvPr/>
        </p:nvSpPr>
        <p:spPr>
          <a:xfrm>
            <a:off x="4010025" y="2429510"/>
            <a:ext cx="600011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2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Approach</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4" name="文本框 12"/>
          <p:cNvSpPr/>
          <p:nvPr/>
        </p:nvSpPr>
        <p:spPr>
          <a:xfrm>
            <a:off x="4010025" y="4866005"/>
            <a:ext cx="8107680"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4  T</a:t>
            </a:r>
            <a:r>
              <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hinking and inspiration</a:t>
            </a:r>
            <a:endParaRPr lang="zh-CN" altLang="en-US"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5" name="文本框 11"/>
          <p:cNvSpPr/>
          <p:nvPr/>
        </p:nvSpPr>
        <p:spPr>
          <a:xfrm>
            <a:off x="4010025" y="3648075"/>
            <a:ext cx="7543165" cy="706755"/>
          </a:xfrm>
          <a:prstGeom prst="rect">
            <a:avLst/>
          </a:prstGeom>
          <a:noFill/>
          <a:ln w="9525">
            <a:noFill/>
          </a:ln>
        </p:spPr>
        <p:txBody>
          <a:bodyPr wrap="square" anchor="t" anchorCtr="0">
            <a:spAutoFit/>
          </a:bodyPr>
          <a:lstStyle/>
          <a:p>
            <a:r>
              <a:rPr lang="en-US" alt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3  </a:t>
            </a:r>
            <a:r>
              <a:rPr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Experiment</a:t>
            </a:r>
            <a:endParaRPr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5"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9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7" name="文本框 7"/>
          <p:cNvSpPr txBox="1"/>
          <p:nvPr/>
        </p:nvSpPr>
        <p:spPr>
          <a:xfrm>
            <a:off x="1152948" y="86861"/>
            <a:ext cx="5435177" cy="58356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Main Results</a:t>
            </a:r>
            <a:endParaRPr lang="zh-CN" altLang="en-US" sz="3200" b="1" dirty="0">
              <a:solidFill>
                <a:srgbClr val="0072A9"/>
              </a:solidFill>
              <a:latin typeface="华文中宋" panose="02010600040101010101" charset="-122"/>
              <a:ea typeface="华文中宋" panose="02010600040101010101" charset="-122"/>
              <a:sym typeface="+mn-ea"/>
            </a:endParaRPr>
          </a:p>
        </p:txBody>
      </p:sp>
      <p:cxnSp>
        <p:nvCxnSpPr>
          <p:cNvPr id="3145730"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Traffic Classification Task</a:t>
            </a:r>
            <a:endParaRPr lang="en-US" altLang="zh-CN" sz="2800" dirty="0">
              <a:solidFill>
                <a:schemeClr val="bg1"/>
              </a:solidFill>
              <a:latin typeface="华文中宋" panose="02010600040101010101" charset="-122"/>
              <a:ea typeface="华文中宋" panose="02010600040101010101" charset="-122"/>
              <a:sym typeface="+mn-ea"/>
            </a:endParaRPr>
          </a:p>
        </p:txBody>
      </p:sp>
      <p:pic>
        <p:nvPicPr>
          <p:cNvPr id="2" name="图片 1"/>
          <p:cNvPicPr>
            <a:picLocks noChangeAspect="1"/>
          </p:cNvPicPr>
          <p:nvPr/>
        </p:nvPicPr>
        <p:blipFill>
          <a:blip r:embed="rId1"/>
          <a:stretch>
            <a:fillRect/>
          </a:stretch>
        </p:blipFill>
        <p:spPr>
          <a:xfrm>
            <a:off x="1153160" y="1011555"/>
            <a:ext cx="9806305" cy="2725420"/>
          </a:xfrm>
          <a:prstGeom prst="rect">
            <a:avLst/>
          </a:prstGeom>
        </p:spPr>
      </p:pic>
      <p:pic>
        <p:nvPicPr>
          <p:cNvPr id="4" name="图片 3"/>
          <p:cNvPicPr>
            <a:picLocks noChangeAspect="1"/>
          </p:cNvPicPr>
          <p:nvPr/>
        </p:nvPicPr>
        <p:blipFill>
          <a:blip r:embed="rId2"/>
          <a:stretch>
            <a:fillRect/>
          </a:stretch>
        </p:blipFill>
        <p:spPr>
          <a:xfrm>
            <a:off x="1028065" y="3736340"/>
            <a:ext cx="5182235" cy="2778125"/>
          </a:xfrm>
          <a:prstGeom prst="rect">
            <a:avLst/>
          </a:prstGeom>
        </p:spPr>
      </p:pic>
      <p:pic>
        <p:nvPicPr>
          <p:cNvPr id="5" name="图片 4"/>
          <p:cNvPicPr>
            <a:picLocks noChangeAspect="1"/>
          </p:cNvPicPr>
          <p:nvPr/>
        </p:nvPicPr>
        <p:blipFill>
          <a:blip r:embed="rId3"/>
          <a:stretch>
            <a:fillRect/>
          </a:stretch>
        </p:blipFill>
        <p:spPr>
          <a:xfrm>
            <a:off x="6357620" y="3806190"/>
            <a:ext cx="4737735" cy="276796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5"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9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7" name="文本框 7"/>
          <p:cNvSpPr txBox="1"/>
          <p:nvPr/>
        </p:nvSpPr>
        <p:spPr>
          <a:xfrm>
            <a:off x="1152948" y="86861"/>
            <a:ext cx="5435177" cy="58356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Main Results</a:t>
            </a:r>
            <a:endParaRPr lang="zh-CN" altLang="en-US" sz="3200" b="1" dirty="0">
              <a:solidFill>
                <a:srgbClr val="0072A9"/>
              </a:solidFill>
              <a:latin typeface="华文中宋" panose="02010600040101010101" charset="-122"/>
              <a:ea typeface="华文中宋" panose="02010600040101010101" charset="-122"/>
              <a:sym typeface="+mn-ea"/>
            </a:endParaRPr>
          </a:p>
        </p:txBody>
      </p:sp>
      <p:cxnSp>
        <p:nvCxnSpPr>
          <p:cNvPr id="3145730"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ET-BERT Analysis</a:t>
            </a:r>
            <a:endParaRPr lang="en-US" altLang="zh-CN" sz="2800" dirty="0">
              <a:solidFill>
                <a:schemeClr val="bg1"/>
              </a:solidFill>
              <a:latin typeface="华文中宋" panose="02010600040101010101" charset="-122"/>
              <a:ea typeface="华文中宋" panose="02010600040101010101" charset="-122"/>
              <a:sym typeface="+mn-ea"/>
            </a:endParaRPr>
          </a:p>
        </p:txBody>
      </p:sp>
      <p:pic>
        <p:nvPicPr>
          <p:cNvPr id="6" name="图片 5"/>
          <p:cNvPicPr>
            <a:picLocks noChangeAspect="1"/>
          </p:cNvPicPr>
          <p:nvPr/>
        </p:nvPicPr>
        <p:blipFill>
          <a:blip r:embed="rId1"/>
          <a:stretch>
            <a:fillRect/>
          </a:stretch>
        </p:blipFill>
        <p:spPr>
          <a:xfrm>
            <a:off x="334645" y="1113790"/>
            <a:ext cx="5844540" cy="4300220"/>
          </a:xfrm>
          <a:prstGeom prst="rect">
            <a:avLst/>
          </a:prstGeom>
        </p:spPr>
      </p:pic>
      <p:pic>
        <p:nvPicPr>
          <p:cNvPr id="8" name="图片 7"/>
          <p:cNvPicPr>
            <a:picLocks noChangeAspect="1"/>
          </p:cNvPicPr>
          <p:nvPr/>
        </p:nvPicPr>
        <p:blipFill>
          <a:blip r:embed="rId2"/>
          <a:stretch>
            <a:fillRect/>
          </a:stretch>
        </p:blipFill>
        <p:spPr>
          <a:xfrm>
            <a:off x="6179185" y="1223010"/>
            <a:ext cx="5697855" cy="3726815"/>
          </a:xfrm>
          <a:prstGeom prst="rect">
            <a:avLst/>
          </a:prstGeom>
        </p:spPr>
      </p:pic>
      <p:sp>
        <p:nvSpPr>
          <p:cNvPr id="9" name="文本框 8"/>
          <p:cNvSpPr txBox="1"/>
          <p:nvPr/>
        </p:nvSpPr>
        <p:spPr>
          <a:xfrm>
            <a:off x="3952875" y="5300980"/>
            <a:ext cx="6744970" cy="1444625"/>
          </a:xfrm>
          <a:prstGeom prst="rect">
            <a:avLst/>
          </a:prstGeom>
          <a:noFill/>
        </p:spPr>
        <p:txBody>
          <a:bodyPr wrap="square" rtlCol="0">
            <a:noAutofit/>
          </a:bodyPr>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华文仿宋" panose="02010600040101010101" charset="-122"/>
              </a:rPr>
              <a:t>错误的数据划分（</a:t>
            </a:r>
            <a:r>
              <a:rPr lang="en-US" altLang="zh-CN">
                <a:latin typeface="华文仿宋" panose="02010600040101010101" charset="-122"/>
                <a:ea typeface="华文仿宋" panose="02010600040101010101" charset="-122"/>
                <a:cs typeface="华文仿宋" panose="02010600040101010101" charset="-122"/>
              </a:rPr>
              <a:t>Per-packet split</a:t>
            </a:r>
            <a:r>
              <a:rPr lang="zh-CN" altLang="en-US">
                <a:latin typeface="华文仿宋" panose="02010600040101010101" charset="-122"/>
                <a:ea typeface="华文仿宋" panose="02010600040101010101" charset="-122"/>
                <a:cs typeface="华文仿宋" panose="02010600040101010101" charset="-122"/>
              </a:rPr>
              <a:t>）导致数据泄露</a:t>
            </a:r>
            <a:endParaRPr lang="zh-CN" altLang="en-US">
              <a:latin typeface="华文仿宋" panose="02010600040101010101" charset="-122"/>
              <a:ea typeface="华文仿宋" panose="02010600040101010101" charset="-122"/>
              <a:cs typeface="华文仿宋" panose="02010600040101010101" charset="-122"/>
            </a:endParaRPr>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cs typeface="华文仿宋" panose="02010600040101010101" charset="-122"/>
              </a:rPr>
              <a:t>模型在微调中学习了隐式流标识符（</a:t>
            </a:r>
            <a:r>
              <a:rPr lang="en-US" altLang="zh-CN">
                <a:latin typeface="华文仿宋" panose="02010600040101010101" charset="-122"/>
                <a:ea typeface="华文仿宋" panose="02010600040101010101" charset="-122"/>
                <a:cs typeface="华文仿宋" panose="02010600040101010101" charset="-122"/>
              </a:rPr>
              <a:t>Shortcuts</a:t>
            </a:r>
            <a:r>
              <a:rPr lang="zh-CN" altLang="en-US">
                <a:latin typeface="华文仿宋" panose="02010600040101010101" charset="-122"/>
                <a:ea typeface="华文仿宋" panose="02010600040101010101" charset="-122"/>
                <a:cs typeface="华文仿宋" panose="02010600040101010101" charset="-122"/>
              </a:rPr>
              <a:t>）</a:t>
            </a:r>
            <a:endParaRPr lang="zh-CN" altLang="en-US">
              <a:latin typeface="华文仿宋" panose="02010600040101010101" charset="-122"/>
              <a:ea typeface="华文仿宋" panose="02010600040101010101" charset="-122"/>
              <a:cs typeface="华文仿宋" panose="02010600040101010101" charset="-122"/>
            </a:endParaRPr>
          </a:p>
          <a:p>
            <a:pPr marL="285750" indent="-285750">
              <a:buFont typeface="Arial" panose="020B0604020202020204" pitchFamily="34" charset="0"/>
              <a:buChar char="•"/>
            </a:pPr>
            <a:endParaRPr lang="en-US" altLang="zh-CN">
              <a:latin typeface="华文仿宋" panose="02010600040101010101" charset="-122"/>
              <a:ea typeface="华文仿宋" panose="02010600040101010101" charset="-122"/>
            </a:endParaRPr>
          </a:p>
          <a:p>
            <a:pPr marL="285750" indent="-285750">
              <a:buFont typeface="Arial" panose="020B0604020202020204" pitchFamily="34" charset="0"/>
              <a:buChar char="•"/>
            </a:pPr>
            <a:r>
              <a:rPr lang="zh-CN" altLang="en-US">
                <a:latin typeface="华文仿宋" panose="02010600040101010101" charset="-122"/>
                <a:ea typeface="华文仿宋" panose="02010600040101010101" charset="-122"/>
              </a:rPr>
              <a:t>预训练本身是无效的，模型相当于从零开始学习</a:t>
            </a:r>
            <a:endParaRPr lang="zh-CN" altLang="en-US">
              <a:latin typeface="华文仿宋" panose="02010600040101010101" charset="-122"/>
              <a:ea typeface="华文仿宋" panose="02010600040101010101" charset="-122"/>
            </a:endParaRPr>
          </a:p>
          <a:p>
            <a:endParaRPr lang="en-US" altLang="zh-CN"/>
          </a:p>
          <a:p>
            <a:endParaRPr lang="en-US" altLang="zh-CN"/>
          </a:p>
        </p:txBody>
      </p:sp>
      <p:sp>
        <p:nvSpPr>
          <p:cNvPr id="13" name="文本框 12"/>
          <p:cNvSpPr txBox="1"/>
          <p:nvPr/>
        </p:nvSpPr>
        <p:spPr>
          <a:xfrm>
            <a:off x="2175510" y="5857240"/>
            <a:ext cx="1588770" cy="332105"/>
          </a:xfrm>
          <a:prstGeom prst="rect">
            <a:avLst/>
          </a:prstGeom>
          <a:solidFill>
            <a:schemeClr val="accent1"/>
          </a:solidFill>
          <a:ln w="28575" cmpd="sng">
            <a:solidFill>
              <a:schemeClr val="accent1">
                <a:shade val="50000"/>
              </a:schemeClr>
            </a:solidFill>
            <a:prstDash val="solid"/>
          </a:ln>
        </p:spPr>
        <p:txBody>
          <a:bodyPr wrap="square" rtlCol="0">
            <a:noAutofit/>
          </a:bodyPr>
          <a:p>
            <a:pPr algn="ctr"/>
            <a:r>
              <a:rPr lang="zh-CN" altLang="en-US">
                <a:solidFill>
                  <a:schemeClr val="bg1"/>
                </a:solidFill>
                <a:latin typeface="Comic Sans MS" panose="030F0702030302020204" pitchFamily="66" charset="0"/>
                <a:cs typeface="Comic Sans MS" panose="030F0702030302020204" pitchFamily="66" charset="0"/>
              </a:rPr>
              <a:t>结论</a:t>
            </a:r>
            <a:endParaRPr lang="zh-CN" altLang="en-US">
              <a:solidFill>
                <a:schemeClr val="bg1"/>
              </a:solidFill>
              <a:latin typeface="Comic Sans MS" panose="030F0702030302020204" pitchFamily="66" charset="0"/>
              <a:cs typeface="Comic Sans MS" panose="030F0702030302020204" pitchFamily="66"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5"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9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7" name="文本框 7"/>
          <p:cNvSpPr txBox="1"/>
          <p:nvPr/>
        </p:nvSpPr>
        <p:spPr>
          <a:xfrm>
            <a:off x="1153160" y="86995"/>
            <a:ext cx="10359390" cy="583565"/>
          </a:xfrm>
          <a:prstGeom prst="rect">
            <a:avLst/>
          </a:prstGeom>
          <a:noFill/>
          <a:ln w="9525">
            <a:noFill/>
          </a:ln>
        </p:spPr>
        <p:txBody>
          <a:bodyPr wrap="square" anchor="t" anchorCtr="0">
            <a:spAutoFit/>
          </a:bodyPr>
          <a:lstStyle/>
          <a:p>
            <a:r>
              <a:rPr lang="zh-CN" altLang="en-US" sz="3200" b="1" dirty="0">
                <a:solidFill>
                  <a:srgbClr val="0072A9"/>
                </a:solidFill>
                <a:latin typeface="华文中宋" panose="02010600040101010101" charset="-122"/>
                <a:ea typeface="华文中宋" panose="02010600040101010101" charset="-122"/>
                <a:sym typeface="+mn-ea"/>
              </a:rPr>
              <a:t>Ablation </a:t>
            </a:r>
            <a:r>
              <a:rPr lang="en-US" altLang="zh-CN" sz="3200" b="1" dirty="0">
                <a:solidFill>
                  <a:srgbClr val="0072A9"/>
                </a:solidFill>
                <a:latin typeface="华文中宋" panose="02010600040101010101" charset="-122"/>
                <a:ea typeface="华文中宋" panose="02010600040101010101" charset="-122"/>
                <a:sym typeface="+mn-ea"/>
              </a:rPr>
              <a:t>Analysis</a:t>
            </a:r>
            <a:endParaRPr lang="en-US" altLang="zh-CN" sz="3200" b="1" dirty="0">
              <a:solidFill>
                <a:srgbClr val="0072A9"/>
              </a:solidFill>
              <a:latin typeface="华文中宋" panose="02010600040101010101" charset="-122"/>
              <a:ea typeface="华文中宋" panose="02010600040101010101" charset="-122"/>
              <a:sym typeface="+mn-ea"/>
            </a:endParaRPr>
          </a:p>
        </p:txBody>
      </p:sp>
      <p:cxnSp>
        <p:nvCxnSpPr>
          <p:cNvPr id="3145730"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1"/>
          <a:stretch>
            <a:fillRect/>
          </a:stretch>
        </p:blipFill>
        <p:spPr>
          <a:xfrm>
            <a:off x="599440" y="938530"/>
            <a:ext cx="6244590" cy="2754630"/>
          </a:xfrm>
          <a:prstGeom prst="rect">
            <a:avLst/>
          </a:prstGeom>
        </p:spPr>
      </p:pic>
      <p:pic>
        <p:nvPicPr>
          <p:cNvPr id="7" name="图片 6"/>
          <p:cNvPicPr>
            <a:picLocks noChangeAspect="1"/>
          </p:cNvPicPr>
          <p:nvPr/>
        </p:nvPicPr>
        <p:blipFill>
          <a:blip r:embed="rId2"/>
          <a:stretch>
            <a:fillRect/>
          </a:stretch>
        </p:blipFill>
        <p:spPr>
          <a:xfrm>
            <a:off x="1153160" y="4188460"/>
            <a:ext cx="5406390" cy="2171700"/>
          </a:xfrm>
          <a:prstGeom prst="rect">
            <a:avLst/>
          </a:prstGeom>
        </p:spPr>
      </p:pic>
      <p:sp>
        <p:nvSpPr>
          <p:cNvPr id="8" name="文本框 7"/>
          <p:cNvSpPr txBox="1"/>
          <p:nvPr/>
        </p:nvSpPr>
        <p:spPr>
          <a:xfrm>
            <a:off x="7092950" y="4534535"/>
            <a:ext cx="4822190" cy="1198880"/>
          </a:xfrm>
          <a:prstGeom prst="rect">
            <a:avLst/>
          </a:prstGeom>
          <a:noFill/>
        </p:spPr>
        <p:txBody>
          <a:bodyPr wrap="square" rtlCol="0">
            <a:spAutoFit/>
          </a:bodyPr>
          <a:p>
            <a:r>
              <a:rPr lang="zh-CN" altLang="en-US">
                <a:latin typeface="华文仿宋" panose="02010600040101010101" charset="-122"/>
                <a:ea typeface="华文仿宋" panose="02010600040101010101" charset="-122"/>
              </a:rPr>
              <a:t>经过精心特征工程的简单模型，其表现可以超越复杂的表示学习模型。这进一步质疑了在流量分类任务中引入沉重表示学习模型的必要性和性价比。</a:t>
            </a:r>
            <a:endParaRPr lang="zh-CN" altLang="en-US">
              <a:latin typeface="华文仿宋" panose="02010600040101010101" charset="-122"/>
              <a:ea typeface="华文仿宋" panose="02010600040101010101" charset="-122"/>
            </a:endParaRPr>
          </a:p>
        </p:txBody>
      </p:sp>
      <p:sp>
        <p:nvSpPr>
          <p:cNvPr id="9" name="文本框 8"/>
          <p:cNvSpPr txBox="1"/>
          <p:nvPr/>
        </p:nvSpPr>
        <p:spPr>
          <a:xfrm>
            <a:off x="7138035" y="1993265"/>
            <a:ext cx="4064000" cy="645160"/>
          </a:xfrm>
          <a:prstGeom prst="rect">
            <a:avLst/>
          </a:prstGeom>
          <a:noFill/>
        </p:spPr>
        <p:txBody>
          <a:bodyPr wrap="square" rtlCol="0">
            <a:spAutoFit/>
          </a:bodyPr>
          <a:p>
            <a:r>
              <a:rPr lang="zh-CN" altLang="en-US">
                <a:latin typeface="华文仿宋" panose="02010600040101010101" charset="-122"/>
                <a:ea typeface="华文仿宋" panose="02010600040101010101" charset="-122"/>
                <a:cs typeface="华文仿宋" panose="02010600040101010101" charset="-122"/>
              </a:rPr>
              <a:t>有效信息来自</a:t>
            </a:r>
            <a:r>
              <a:rPr lang="en-US" altLang="zh-CN">
                <a:latin typeface="华文仿宋" panose="02010600040101010101" charset="-122"/>
                <a:ea typeface="华文仿宋" panose="02010600040101010101" charset="-122"/>
                <a:cs typeface="华文仿宋" panose="02010600040101010101" charset="-122"/>
              </a:rPr>
              <a:t>IP</a:t>
            </a:r>
            <a:r>
              <a:rPr lang="zh-CN" altLang="en-US">
                <a:latin typeface="华文仿宋" panose="02010600040101010101" charset="-122"/>
                <a:ea typeface="华文仿宋" panose="02010600040101010101" charset="-122"/>
                <a:cs typeface="华文仿宋" panose="02010600040101010101" charset="-122"/>
              </a:rPr>
              <a:t>地址以及协议头，加密载荷</a:t>
            </a:r>
            <a:r>
              <a:rPr lang="en-US" altLang="zh-CN">
                <a:latin typeface="华文仿宋" panose="02010600040101010101" charset="-122"/>
                <a:ea typeface="华文仿宋" panose="02010600040101010101" charset="-122"/>
                <a:cs typeface="华文仿宋" panose="02010600040101010101" charset="-122"/>
              </a:rPr>
              <a:t>payload</a:t>
            </a:r>
            <a:r>
              <a:rPr lang="zh-CN" altLang="en-US">
                <a:latin typeface="华文仿宋" panose="02010600040101010101" charset="-122"/>
                <a:ea typeface="华文仿宋" panose="02010600040101010101" charset="-122"/>
                <a:cs typeface="华文仿宋" panose="02010600040101010101" charset="-122"/>
              </a:rPr>
              <a:t>并不能</a:t>
            </a:r>
            <a:r>
              <a:rPr lang="zh-CN" altLang="en-US">
                <a:latin typeface="华文仿宋" panose="02010600040101010101" charset="-122"/>
                <a:ea typeface="华文仿宋" panose="02010600040101010101" charset="-122"/>
                <a:cs typeface="华文仿宋" panose="02010600040101010101" charset="-122"/>
              </a:rPr>
              <a:t>提供很多有用信息</a:t>
            </a:r>
            <a:endParaRPr lang="zh-CN" altLang="en-US">
              <a:latin typeface="华文仿宋" panose="02010600040101010101" charset="-122"/>
              <a:ea typeface="华文仿宋" panose="02010600040101010101" charset="-122"/>
              <a:cs typeface="华文仿宋" panose="02010600040101010101"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5" name="菱形 17"/>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华文中宋" panose="02010600040101010101" charset="-122"/>
              <a:ea typeface="华文中宋" panose="02010600040101010101" charset="-122"/>
              <a:cs typeface="+mn-cs"/>
            </a:endParaRPr>
          </a:p>
        </p:txBody>
      </p:sp>
      <p:sp>
        <p:nvSpPr>
          <p:cNvPr id="1048596"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华文中宋" panose="02010600040101010101" charset="-122"/>
              <a:ea typeface="华文中宋" panose="02010600040101010101" charset="-122"/>
              <a:cs typeface="+mn-cs"/>
            </a:endParaRPr>
          </a:p>
        </p:txBody>
      </p:sp>
      <p:sp>
        <p:nvSpPr>
          <p:cNvPr id="1048597" name="文本框 7"/>
          <p:cNvSpPr txBox="1"/>
          <p:nvPr/>
        </p:nvSpPr>
        <p:spPr>
          <a:xfrm>
            <a:off x="1153160" y="86995"/>
            <a:ext cx="10359390" cy="583565"/>
          </a:xfrm>
          <a:prstGeom prst="rect">
            <a:avLst/>
          </a:prstGeom>
          <a:noFill/>
          <a:ln w="9525">
            <a:noFill/>
          </a:ln>
        </p:spPr>
        <p:txBody>
          <a:bodyPr wrap="square" anchor="t" anchorCtr="0">
            <a:spAutoFit/>
          </a:bodyPr>
          <a:lstStyle/>
          <a:p>
            <a:r>
              <a:rPr lang="en-US" altLang="zh-CN" sz="3200" b="1" dirty="0">
                <a:solidFill>
                  <a:srgbClr val="0072A9"/>
                </a:solidFill>
                <a:latin typeface="华文中宋" panose="02010600040101010101" charset="-122"/>
                <a:ea typeface="华文中宋" panose="02010600040101010101" charset="-122"/>
                <a:sym typeface="+mn-ea"/>
              </a:rPr>
              <a:t>R</a:t>
            </a:r>
            <a:r>
              <a:rPr lang="en-US" altLang="zh-CN" sz="3200" b="1" dirty="0">
                <a:solidFill>
                  <a:srgbClr val="0072A9"/>
                </a:solidFill>
                <a:latin typeface="华文中宋" panose="02010600040101010101" charset="-122"/>
                <a:ea typeface="华文中宋" panose="02010600040101010101" charset="-122"/>
                <a:sym typeface="+mn-ea"/>
              </a:rPr>
              <a:t>esults</a:t>
            </a:r>
            <a:endParaRPr lang="en-US" altLang="zh-CN" sz="3200" b="1" dirty="0">
              <a:solidFill>
                <a:srgbClr val="0072A9"/>
              </a:solidFill>
              <a:latin typeface="华文中宋" panose="02010600040101010101" charset="-122"/>
              <a:ea typeface="华文中宋" panose="02010600040101010101" charset="-122"/>
              <a:sym typeface="+mn-ea"/>
            </a:endParaRPr>
          </a:p>
        </p:txBody>
      </p:sp>
      <p:cxnSp>
        <p:nvCxnSpPr>
          <p:cNvPr id="3145730" name="直接连接符 20"/>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
          <a:stretch>
            <a:fillRect/>
          </a:stretch>
        </p:blipFill>
        <p:spPr>
          <a:xfrm>
            <a:off x="2460625" y="963295"/>
            <a:ext cx="6663690" cy="4219575"/>
          </a:xfrm>
          <a:prstGeom prst="rect">
            <a:avLst/>
          </a:prstGeom>
        </p:spPr>
      </p:pic>
      <p:sp>
        <p:nvSpPr>
          <p:cNvPr id="11" name="文本框 13"/>
          <p:cNvSpPr txBox="1"/>
          <p:nvPr/>
        </p:nvSpPr>
        <p:spPr>
          <a:xfrm>
            <a:off x="5137150" y="170815"/>
            <a:ext cx="623252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Model Efficiency</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3" name="文本框 2"/>
          <p:cNvSpPr txBox="1"/>
          <p:nvPr/>
        </p:nvSpPr>
        <p:spPr>
          <a:xfrm>
            <a:off x="2379345" y="5453380"/>
            <a:ext cx="7033895" cy="645160"/>
          </a:xfrm>
          <a:prstGeom prst="rect">
            <a:avLst/>
          </a:prstGeom>
          <a:noFill/>
        </p:spPr>
        <p:txBody>
          <a:bodyPr wrap="square" rtlCol="0">
            <a:spAutoFit/>
          </a:bodyPr>
          <a:p>
            <a:r>
              <a:rPr lang="zh-CN" altLang="en-US">
                <a:latin typeface="华文仿宋" panose="02010600040101010101" charset="-122"/>
                <a:ea typeface="华文仿宋" panose="02010600040101010101" charset="-122"/>
                <a:cs typeface="华文仿宋" panose="02010600040101010101" charset="-122"/>
              </a:rPr>
              <a:t>表示学习模型带来了巨大的计算成本，但其性能优势相对于简单的基线模型并不明显，这使其在实际部署中的实用性受到严重质疑</a:t>
            </a:r>
            <a:endParaRPr lang="zh-CN" altLang="en-US">
              <a:latin typeface="华文仿宋" panose="02010600040101010101" charset="-122"/>
              <a:ea typeface="华文仿宋" panose="02010600040101010101" charset="-122"/>
              <a:cs typeface="华文仿宋" panose="02010600040101010101"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矩形 11"/>
          <p:cNvSpPr/>
          <p:nvPr/>
        </p:nvSpPr>
        <p:spPr>
          <a:xfrm>
            <a:off x="1" y="0"/>
            <a:ext cx="3533774" cy="6858000"/>
          </a:xfrm>
          <a:prstGeom prst="rect">
            <a:avLst/>
          </a:prstGeom>
          <a:solidFill>
            <a:srgbClr val="2E75B5"/>
          </a:solidFill>
          <a:ln w="9525">
            <a:noFill/>
          </a:ln>
        </p:spPr>
        <p:txBody>
          <a:bodyPr anchor="ctr" anchorCtr="0"/>
          <a:lstStyle/>
          <a:p>
            <a:pPr algn="ctr"/>
            <a:endParaRPr lang="zh-CN" altLang="zh-CN">
              <a:solidFill>
                <a:srgbClr val="FFFFFF"/>
              </a:solidFill>
              <a:latin typeface="华文中宋" panose="02010600040101010101" charset="-122"/>
              <a:ea typeface="华文中宋" panose="02010600040101010101" charset="-122"/>
              <a:sym typeface="Arial" panose="020B0604020202020204" pitchFamily="34" charset="0"/>
            </a:endParaRPr>
          </a:p>
        </p:txBody>
      </p:sp>
      <p:grpSp>
        <p:nvGrpSpPr>
          <p:cNvPr id="51" name="组合 20"/>
          <p:cNvGrpSpPr/>
          <p:nvPr/>
        </p:nvGrpSpPr>
        <p:grpSpPr>
          <a:xfrm>
            <a:off x="1058863" y="2670175"/>
            <a:ext cx="2034001" cy="1662318"/>
            <a:chOff x="0" y="0"/>
            <a:chExt cx="2033282" cy="1609703"/>
          </a:xfrm>
        </p:grpSpPr>
        <p:sp>
          <p:nvSpPr>
            <p:cNvPr id="1048640" name="文本框 7"/>
            <p:cNvSpPr/>
            <p:nvPr/>
          </p:nvSpPr>
          <p:spPr>
            <a:xfrm>
              <a:off x="0" y="0"/>
              <a:ext cx="1858622" cy="1035494"/>
            </a:xfrm>
            <a:prstGeom prst="rect">
              <a:avLst/>
            </a:prstGeom>
            <a:noFill/>
            <a:ln w="9525">
              <a:noFill/>
            </a:ln>
          </p:spPr>
          <p:txBody>
            <a:bodyPr wrap="none" anchor="t" anchorCtr="0">
              <a:spAutoFit/>
            </a:bodyPr>
            <a:lstStyle/>
            <a:p>
              <a:r>
                <a:rPr lang="zh-CN" altLang="en-US" sz="6600">
                  <a:solidFill>
                    <a:schemeClr val="bg1"/>
                  </a:solidFill>
                  <a:latin typeface="华文中宋" panose="02010600040101010101" charset="-122"/>
                  <a:ea typeface="华文中宋" panose="02010600040101010101" charset="-122"/>
                  <a:sym typeface="微软雅黑" panose="020B0503020204020204" charset="-122"/>
                </a:rPr>
                <a:t>目录</a:t>
              </a:r>
              <a:endParaRPr lang="zh-CN" altLang="en-US" sz="6600">
                <a:solidFill>
                  <a:schemeClr val="bg1"/>
                </a:solidFill>
                <a:latin typeface="华文中宋" panose="02010600040101010101" charset="-122"/>
                <a:ea typeface="华文中宋" panose="02010600040101010101" charset="-122"/>
                <a:sym typeface="微软雅黑" panose="020B0503020204020204" charset="-122"/>
              </a:endParaRPr>
            </a:p>
          </p:txBody>
        </p:sp>
        <p:sp>
          <p:nvSpPr>
            <p:cNvPr id="1048641" name="文本框 8"/>
            <p:cNvSpPr/>
            <p:nvPr/>
          </p:nvSpPr>
          <p:spPr>
            <a:xfrm>
              <a:off x="9618" y="943149"/>
              <a:ext cx="2023664" cy="666554"/>
            </a:xfrm>
            <a:prstGeom prst="rect">
              <a:avLst/>
            </a:prstGeom>
            <a:noFill/>
            <a:ln w="9525">
              <a:noFill/>
            </a:ln>
          </p:spPr>
          <p:txBody>
            <a:bodyPr wrap="none" anchor="t" anchorCtr="0">
              <a:spAutoFit/>
            </a:bodyPr>
            <a:lstStyle/>
            <a:p>
              <a:r>
                <a:rPr lang="en-US" altLang="zh-CN" sz="4000">
                  <a:solidFill>
                    <a:schemeClr val="bg1"/>
                  </a:solidFill>
                  <a:latin typeface="华文中宋" panose="02010600040101010101" charset="-122"/>
                  <a:ea typeface="华文中宋" panose="02010600040101010101" charset="-122"/>
                  <a:sym typeface="Arial" panose="020B0604020202020204" pitchFamily="34" charset="0"/>
                </a:rPr>
                <a:t>content</a:t>
              </a:r>
              <a:endParaRPr lang="en-US" altLang="zh-CN" sz="4000">
                <a:solidFill>
                  <a:schemeClr val="bg1"/>
                </a:solidFill>
                <a:latin typeface="华文中宋" panose="02010600040101010101" charset="-122"/>
                <a:ea typeface="华文中宋" panose="02010600040101010101" charset="-122"/>
                <a:sym typeface="Arial" panose="020B0604020202020204" pitchFamily="34" charset="0"/>
              </a:endParaRPr>
            </a:p>
          </p:txBody>
        </p:sp>
      </p:grpSp>
      <p:sp>
        <p:nvSpPr>
          <p:cNvPr id="1048642" name="文本框 5"/>
          <p:cNvSpPr/>
          <p:nvPr/>
        </p:nvSpPr>
        <p:spPr>
          <a:xfrm>
            <a:off x="4010025" y="1211580"/>
            <a:ext cx="7866380" cy="1322070"/>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1  Background and motivation</a:t>
            </a:r>
            <a:endPar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a:p>
            <a:endPar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3" name="文本框 11"/>
          <p:cNvSpPr/>
          <p:nvPr/>
        </p:nvSpPr>
        <p:spPr>
          <a:xfrm>
            <a:off x="4010025" y="2429510"/>
            <a:ext cx="600011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2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Approach</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4" name="文本框 12"/>
          <p:cNvSpPr/>
          <p:nvPr/>
        </p:nvSpPr>
        <p:spPr>
          <a:xfrm>
            <a:off x="4010025" y="4866005"/>
            <a:ext cx="8107680" cy="706755"/>
          </a:xfrm>
          <a:prstGeom prst="rect">
            <a:avLst/>
          </a:prstGeom>
          <a:noFill/>
          <a:ln w="9525">
            <a:noFill/>
          </a:ln>
        </p:spPr>
        <p:txBody>
          <a:bodyPr wrap="square" anchor="t" anchorCtr="0">
            <a:spAutoFit/>
          </a:bodyPr>
          <a:lstStyle/>
          <a:p>
            <a:r>
              <a:rPr lang="en-US" altLang="zh-CN"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4  T</a:t>
            </a:r>
            <a:r>
              <a:rPr lang="zh-CN" altLang="en-US"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hinking and inspiration</a:t>
            </a:r>
            <a:endParaRPr lang="zh-CN" altLang="en-US" sz="4000" b="1" dirty="0">
              <a:solidFill>
                <a:srgbClr val="FF0000"/>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
        <p:nvSpPr>
          <p:cNvPr id="1048645" name="文本框 11"/>
          <p:cNvSpPr/>
          <p:nvPr/>
        </p:nvSpPr>
        <p:spPr>
          <a:xfrm>
            <a:off x="4010025" y="3648075"/>
            <a:ext cx="7543165" cy="706755"/>
          </a:xfrm>
          <a:prstGeom prst="rect">
            <a:avLst/>
          </a:prstGeom>
          <a:noFill/>
          <a:ln w="9525">
            <a:noFill/>
          </a:ln>
        </p:spPr>
        <p:txBody>
          <a:bodyPr wrap="square" anchor="t" anchorCtr="0">
            <a:spAutoFit/>
          </a:bodyPr>
          <a:lstStyle/>
          <a:p>
            <a:r>
              <a:rPr lang="en-US" altLang="zh-CN"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3  </a:t>
            </a:r>
            <a:r>
              <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rPr>
              <a:t>Experiment</a:t>
            </a:r>
            <a:endParaRPr sz="4000" b="1" dirty="0">
              <a:solidFill>
                <a:srgbClr val="2E75B5"/>
              </a:solidFill>
              <a:latin typeface="华文中宋" panose="02010600040101010101" charset="-122"/>
              <a:ea typeface="华文中宋" panose="02010600040101010101" charset="-122"/>
              <a:cs typeface="华文中宋" panose="02010600040101010101"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0" name="Freeform 59"/>
          <p:cNvSpPr>
            <a:spLocks noEditPoints="1"/>
          </p:cNvSpPr>
          <p:nvPr/>
        </p:nvSpPr>
        <p:spPr bwMode="auto">
          <a:xfrm>
            <a:off x="42068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Times New Roman" panose="02020603050405020304" charset="0"/>
              <a:ea typeface="华文中宋" panose="02010600040101010101" charset="-122"/>
              <a:cs typeface="Times New Roman" panose="02020603050405020304" charset="0"/>
            </a:endParaRPr>
          </a:p>
        </p:txBody>
      </p:sp>
      <p:sp>
        <p:nvSpPr>
          <p:cNvPr id="1048821" name="菱形 2"/>
          <p:cNvSpPr/>
          <p:nvPr/>
        </p:nvSpPr>
        <p:spPr>
          <a:xfrm>
            <a:off x="193675" y="186055"/>
            <a:ext cx="864509" cy="825745"/>
          </a:xfrm>
          <a:prstGeom prst="diamond">
            <a:avLst/>
          </a:prstGeom>
          <a:solidFill>
            <a:srgbClr val="0072A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chemeClr val="lt1"/>
              </a:solidFill>
              <a:effectLst/>
              <a:uLnTx/>
              <a:uFillTx/>
              <a:latin typeface="Times New Roman" panose="02020603050405020304" charset="0"/>
              <a:ea typeface="华文中宋" panose="02010600040101010101" charset="-122"/>
              <a:cs typeface="Times New Roman" panose="02020603050405020304" charset="0"/>
            </a:endParaRPr>
          </a:p>
        </p:txBody>
      </p:sp>
      <p:sp>
        <p:nvSpPr>
          <p:cNvPr id="1048822" name="Freeform 59"/>
          <p:cNvSpPr>
            <a:spLocks noEditPoints="1"/>
          </p:cNvSpPr>
          <p:nvPr/>
        </p:nvSpPr>
        <p:spPr bwMode="auto">
          <a:xfrm>
            <a:off x="439738" y="404813"/>
            <a:ext cx="371475" cy="360363"/>
          </a:xfrm>
          <a:custGeom>
            <a:avLst/>
            <a:gdLst>
              <a:gd name="T0" fmla="*/ 17 w 111"/>
              <a:gd name="T1" fmla="*/ 2 h 84"/>
              <a:gd name="T2" fmla="*/ 29 w 111"/>
              <a:gd name="T3" fmla="*/ 4 h 84"/>
              <a:gd name="T4" fmla="*/ 20 w 111"/>
              <a:gd name="T5" fmla="*/ 51 h 84"/>
              <a:gd name="T6" fmla="*/ 5 w 111"/>
              <a:gd name="T7" fmla="*/ 48 h 84"/>
              <a:gd name="T8" fmla="*/ 17 w 111"/>
              <a:gd name="T9" fmla="*/ 2 h 84"/>
              <a:gd name="T10" fmla="*/ 20 w 111"/>
              <a:gd name="T11" fmla="*/ 68 h 84"/>
              <a:gd name="T12" fmla="*/ 17 w 111"/>
              <a:gd name="T13" fmla="*/ 76 h 84"/>
              <a:gd name="T14" fmla="*/ 107 w 111"/>
              <a:gd name="T15" fmla="*/ 76 h 84"/>
              <a:gd name="T16" fmla="*/ 111 w 111"/>
              <a:gd name="T17" fmla="*/ 76 h 84"/>
              <a:gd name="T18" fmla="*/ 111 w 111"/>
              <a:gd name="T19" fmla="*/ 72 h 84"/>
              <a:gd name="T20" fmla="*/ 111 w 111"/>
              <a:gd name="T21" fmla="*/ 27 h 84"/>
              <a:gd name="T22" fmla="*/ 111 w 111"/>
              <a:gd name="T23" fmla="*/ 26 h 84"/>
              <a:gd name="T24" fmla="*/ 110 w 111"/>
              <a:gd name="T25" fmla="*/ 24 h 84"/>
              <a:gd name="T26" fmla="*/ 96 w 111"/>
              <a:gd name="T27" fmla="*/ 11 h 84"/>
              <a:gd name="T28" fmla="*/ 95 w 111"/>
              <a:gd name="T29" fmla="*/ 10 h 84"/>
              <a:gd name="T30" fmla="*/ 93 w 111"/>
              <a:gd name="T31" fmla="*/ 10 h 84"/>
              <a:gd name="T32" fmla="*/ 33 w 111"/>
              <a:gd name="T33" fmla="*/ 10 h 84"/>
              <a:gd name="T34" fmla="*/ 33 w 111"/>
              <a:gd name="T35" fmla="*/ 17 h 84"/>
              <a:gd name="T36" fmla="*/ 89 w 111"/>
              <a:gd name="T37" fmla="*/ 17 h 84"/>
              <a:gd name="T38" fmla="*/ 88 w 111"/>
              <a:gd name="T39" fmla="*/ 29 h 84"/>
              <a:gd name="T40" fmla="*/ 88 w 111"/>
              <a:gd name="T41" fmla="*/ 31 h 84"/>
              <a:gd name="T42" fmla="*/ 90 w 111"/>
              <a:gd name="T43" fmla="*/ 31 h 84"/>
              <a:gd name="T44" fmla="*/ 104 w 111"/>
              <a:gd name="T45" fmla="*/ 31 h 84"/>
              <a:gd name="T46" fmla="*/ 104 w 111"/>
              <a:gd name="T47" fmla="*/ 68 h 84"/>
              <a:gd name="T48" fmla="*/ 20 w 111"/>
              <a:gd name="T49" fmla="*/ 68 h 84"/>
              <a:gd name="T50" fmla="*/ 102 w 111"/>
              <a:gd name="T51" fmla="*/ 27 h 84"/>
              <a:gd name="T52" fmla="*/ 92 w 111"/>
              <a:gd name="T53" fmla="*/ 27 h 84"/>
              <a:gd name="T54" fmla="*/ 93 w 111"/>
              <a:gd name="T55" fmla="*/ 19 h 84"/>
              <a:gd name="T56" fmla="*/ 102 w 111"/>
              <a:gd name="T57" fmla="*/ 27 h 84"/>
              <a:gd name="T58" fmla="*/ 34 w 111"/>
              <a:gd name="T59" fmla="*/ 45 h 84"/>
              <a:gd name="T60" fmla="*/ 79 w 111"/>
              <a:gd name="T61" fmla="*/ 45 h 84"/>
              <a:gd name="T62" fmla="*/ 79 w 111"/>
              <a:gd name="T63" fmla="*/ 48 h 84"/>
              <a:gd name="T64" fmla="*/ 34 w 111"/>
              <a:gd name="T65" fmla="*/ 48 h 84"/>
              <a:gd name="T66" fmla="*/ 34 w 111"/>
              <a:gd name="T67" fmla="*/ 45 h 84"/>
              <a:gd name="T68" fmla="*/ 34 w 111"/>
              <a:gd name="T69" fmla="*/ 34 h 84"/>
              <a:gd name="T70" fmla="*/ 75 w 111"/>
              <a:gd name="T71" fmla="*/ 34 h 84"/>
              <a:gd name="T72" fmla="*/ 75 w 111"/>
              <a:gd name="T73" fmla="*/ 37 h 84"/>
              <a:gd name="T74" fmla="*/ 34 w 111"/>
              <a:gd name="T75" fmla="*/ 37 h 84"/>
              <a:gd name="T76" fmla="*/ 34 w 111"/>
              <a:gd name="T77" fmla="*/ 34 h 84"/>
              <a:gd name="T78" fmla="*/ 34 w 111"/>
              <a:gd name="T79" fmla="*/ 23 h 84"/>
              <a:gd name="T80" fmla="*/ 75 w 111"/>
              <a:gd name="T81" fmla="*/ 23 h 84"/>
              <a:gd name="T82" fmla="*/ 75 w 111"/>
              <a:gd name="T83" fmla="*/ 26 h 84"/>
              <a:gd name="T84" fmla="*/ 34 w 111"/>
              <a:gd name="T85" fmla="*/ 26 h 84"/>
              <a:gd name="T86" fmla="*/ 34 w 111"/>
              <a:gd name="T87" fmla="*/ 23 h 84"/>
              <a:gd name="T88" fmla="*/ 4 w 111"/>
              <a:gd name="T89" fmla="*/ 70 h 84"/>
              <a:gd name="T90" fmla="*/ 10 w 111"/>
              <a:gd name="T91" fmla="*/ 72 h 84"/>
              <a:gd name="T92" fmla="*/ 10 w 111"/>
              <a:gd name="T93" fmla="*/ 79 h 84"/>
              <a:gd name="T94" fmla="*/ 5 w 111"/>
              <a:gd name="T95" fmla="*/ 84 h 84"/>
              <a:gd name="T96" fmla="*/ 2 w 111"/>
              <a:gd name="T97" fmla="*/ 83 h 84"/>
              <a:gd name="T98" fmla="*/ 0 w 111"/>
              <a:gd name="T99" fmla="*/ 76 h 84"/>
              <a:gd name="T100" fmla="*/ 4 w 111"/>
              <a:gd name="T101" fmla="*/ 70 h 84"/>
              <a:gd name="T102" fmla="*/ 4 w 111"/>
              <a:gd name="T103" fmla="*/ 51 h 84"/>
              <a:gd name="T104" fmla="*/ 2 w 111"/>
              <a:gd name="T105" fmla="*/ 68 h 84"/>
              <a:gd name="T106" fmla="*/ 13 w 111"/>
              <a:gd name="T107" fmla="*/ 71 h 84"/>
              <a:gd name="T108" fmla="*/ 18 w 111"/>
              <a:gd name="T109" fmla="*/ 54 h 84"/>
              <a:gd name="T110" fmla="*/ 4 w 111"/>
              <a:gd name="T111" fmla="*/ 5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chemeClr val="bg1"/>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black"/>
              </a:solidFill>
              <a:effectLst/>
              <a:uLnTx/>
              <a:uFillTx/>
              <a:latin typeface="Times New Roman" panose="02020603050405020304" charset="0"/>
              <a:ea typeface="华文中宋" panose="02010600040101010101" charset="-122"/>
              <a:cs typeface="Times New Roman" panose="02020603050405020304" charset="0"/>
            </a:endParaRPr>
          </a:p>
        </p:txBody>
      </p:sp>
      <p:sp>
        <p:nvSpPr>
          <p:cNvPr id="1048823" name="文本框 7"/>
          <p:cNvSpPr txBox="1"/>
          <p:nvPr/>
        </p:nvSpPr>
        <p:spPr>
          <a:xfrm>
            <a:off x="1152948" y="86861"/>
            <a:ext cx="5435177" cy="583565"/>
          </a:xfrm>
          <a:prstGeom prst="rect">
            <a:avLst/>
          </a:prstGeom>
          <a:noFill/>
          <a:ln w="9525">
            <a:noFill/>
          </a:ln>
        </p:spPr>
        <p:txBody>
          <a:bodyPr wrap="square" anchor="t" anchorCtr="0">
            <a:spAutoFit/>
          </a:bodyPr>
          <a:lstStyle/>
          <a:p>
            <a:r>
              <a:rPr lang="zh-CN" altLang="en-US" sz="3200" b="1" dirty="0">
                <a:solidFill>
                  <a:srgbClr val="0072A9"/>
                </a:solidFill>
                <a:latin typeface="Times New Roman" panose="02020603050405020304" charset="0"/>
                <a:ea typeface="华文中宋" panose="02010600040101010101" charset="-122"/>
              </a:rPr>
              <a:t>Thinking and inspiration</a:t>
            </a:r>
            <a:endParaRPr lang="zh-CN" altLang="en-US" sz="3200" b="1" dirty="0">
              <a:solidFill>
                <a:srgbClr val="0072A9"/>
              </a:solidFill>
              <a:latin typeface="Times New Roman" panose="02020603050405020304" charset="0"/>
              <a:ea typeface="华文中宋" panose="02010600040101010101" charset="-122"/>
            </a:endParaRPr>
          </a:p>
        </p:txBody>
      </p:sp>
      <p:cxnSp>
        <p:nvCxnSpPr>
          <p:cNvPr id="3145749" name="直接连接符 5"/>
          <p:cNvCxnSpPr/>
          <p:nvPr/>
        </p:nvCxnSpPr>
        <p:spPr>
          <a:xfrm>
            <a:off x="1152948" y="689441"/>
            <a:ext cx="10216667" cy="0"/>
          </a:xfrm>
          <a:prstGeom prst="line">
            <a:avLst/>
          </a:prstGeom>
          <a:ln w="38100">
            <a:solidFill>
              <a:srgbClr val="0072A9"/>
            </a:solidFill>
            <a:prstDash val="solid"/>
          </a:ln>
        </p:spPr>
        <p:style>
          <a:lnRef idx="1">
            <a:schemeClr val="accent1"/>
          </a:lnRef>
          <a:fillRef idx="0">
            <a:schemeClr val="accent1"/>
          </a:fillRef>
          <a:effectRef idx="0">
            <a:schemeClr val="accent1"/>
          </a:effectRef>
          <a:fontRef idx="minor">
            <a:schemeClr val="tx1"/>
          </a:fontRef>
        </p:style>
      </p:cxnSp>
      <p:sp>
        <p:nvSpPr>
          <p:cNvPr id="11" name="文本框 13"/>
          <p:cNvSpPr txBox="1"/>
          <p:nvPr/>
        </p:nvSpPr>
        <p:spPr>
          <a:xfrm>
            <a:off x="6588760" y="170815"/>
            <a:ext cx="4780915" cy="521970"/>
          </a:xfrm>
          <a:prstGeom prst="rect">
            <a:avLst/>
          </a:prstGeom>
          <a:solidFill>
            <a:srgbClr val="2E75B5"/>
          </a:solidFill>
          <a:ln w="9525">
            <a:noFill/>
          </a:ln>
        </p:spPr>
        <p:txBody>
          <a:bodyPr wrap="square" anchor="t" anchorCtr="0">
            <a:spAutoFit/>
          </a:bodyPr>
          <a:p>
            <a:pPr algn="ctr">
              <a:buSzTx/>
            </a:pPr>
            <a:r>
              <a:rPr lang="en-US" altLang="zh-CN" sz="2800" dirty="0">
                <a:solidFill>
                  <a:schemeClr val="bg1"/>
                </a:solidFill>
                <a:latin typeface="华文中宋" panose="02010600040101010101" charset="-122"/>
                <a:ea typeface="华文中宋" panose="02010600040101010101" charset="-122"/>
                <a:sym typeface="+mn-ea"/>
              </a:rPr>
              <a:t>The Sweet of Danger</a:t>
            </a:r>
            <a:endParaRPr lang="en-US" altLang="zh-CN" sz="2800" dirty="0">
              <a:solidFill>
                <a:schemeClr val="bg1"/>
              </a:solidFill>
              <a:latin typeface="华文中宋" panose="02010600040101010101" charset="-122"/>
              <a:ea typeface="华文中宋" panose="02010600040101010101" charset="-122"/>
              <a:sym typeface="+mn-ea"/>
            </a:endParaRPr>
          </a:p>
        </p:txBody>
      </p:sp>
      <p:sp>
        <p:nvSpPr>
          <p:cNvPr id="2" name="文本框 1"/>
          <p:cNvSpPr txBox="1"/>
          <p:nvPr/>
        </p:nvSpPr>
        <p:spPr>
          <a:xfrm>
            <a:off x="1153160" y="1688465"/>
            <a:ext cx="7565390" cy="368300"/>
          </a:xfrm>
          <a:prstGeom prst="rect">
            <a:avLst/>
          </a:prstGeom>
          <a:noFill/>
        </p:spPr>
        <p:txBody>
          <a:bodyPr wrap="square" rtlCol="0">
            <a:spAutoFit/>
          </a:bodyPr>
          <a:p>
            <a:r>
              <a:rPr lang="zh-CN" altLang="en-US">
                <a:latin typeface="华文仿宋" panose="02010600040101010101" charset="-122"/>
                <a:ea typeface="华文仿宋" panose="02010600040101010101" charset="-122"/>
                <a:cs typeface="华文仿宋" panose="02010600040101010101" charset="-122"/>
              </a:rPr>
              <a:t>警惕</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糖衣陷阱</a:t>
            </a:r>
            <a:r>
              <a:rPr lang="en-US" altLang="zh-CN">
                <a:latin typeface="华文仿宋" panose="02010600040101010101" charset="-122"/>
                <a:ea typeface="华文仿宋" panose="02010600040101010101" charset="-122"/>
                <a:cs typeface="华文仿宋" panose="02010600040101010101" charset="-122"/>
              </a:rPr>
              <a:t>”</a:t>
            </a:r>
            <a:r>
              <a:rPr lang="zh-CN" altLang="en-US">
                <a:latin typeface="华文仿宋" panose="02010600040101010101" charset="-122"/>
                <a:ea typeface="华文仿宋" panose="02010600040101010101" charset="-122"/>
                <a:cs typeface="华文仿宋" panose="02010600040101010101" charset="-122"/>
              </a:rPr>
              <a:t>：过于完美的结果往往隐藏着方法或数据上的缺陷</a:t>
            </a:r>
            <a:endParaRPr lang="zh-CN" altLang="en-US">
              <a:latin typeface="华文仿宋" panose="02010600040101010101" charset="-122"/>
              <a:ea typeface="华文仿宋" panose="02010600040101010101" charset="-122"/>
              <a:cs typeface="华文仿宋" panose="02010600040101010101" charset="-122"/>
            </a:endParaRPr>
          </a:p>
        </p:txBody>
      </p:sp>
      <p:sp>
        <p:nvSpPr>
          <p:cNvPr id="3" name="文本框 2"/>
          <p:cNvSpPr txBox="1"/>
          <p:nvPr/>
        </p:nvSpPr>
        <p:spPr>
          <a:xfrm>
            <a:off x="1057910" y="2961640"/>
            <a:ext cx="10029825" cy="645160"/>
          </a:xfrm>
          <a:prstGeom prst="rect">
            <a:avLst/>
          </a:prstGeom>
          <a:noFill/>
        </p:spPr>
        <p:txBody>
          <a:bodyPr wrap="square" rtlCol="0">
            <a:spAutoFit/>
          </a:bodyPr>
          <a:p>
            <a:r>
              <a:rPr lang="zh-CN" altLang="en-US">
                <a:latin typeface="华文仿宋" panose="02010600040101010101" charset="-122"/>
                <a:ea typeface="华文仿宋" panose="02010600040101010101" charset="-122"/>
              </a:rPr>
              <a:t>表示学习的实用性存疑：在当前加密流量分类任务中，复杂表示学习模型未必比传统方法更有效。这也恰恰说明了目前还没有找到一个有效的表示学习方案</a:t>
            </a:r>
            <a:endParaRPr lang="zh-CN" altLang="en-US">
              <a:latin typeface="华文仿宋" panose="02010600040101010101" charset="-122"/>
              <a:ea typeface="华文仿宋" panose="02010600040101010101" charset="-122"/>
            </a:endParaRPr>
          </a:p>
        </p:txBody>
      </p:sp>
      <p:sp>
        <p:nvSpPr>
          <p:cNvPr id="5" name="文本框 4"/>
          <p:cNvSpPr txBox="1"/>
          <p:nvPr/>
        </p:nvSpPr>
        <p:spPr>
          <a:xfrm>
            <a:off x="1057910" y="4701540"/>
            <a:ext cx="9464675" cy="368300"/>
          </a:xfrm>
          <a:prstGeom prst="rect">
            <a:avLst/>
          </a:prstGeom>
          <a:noFill/>
        </p:spPr>
        <p:txBody>
          <a:bodyPr wrap="square" rtlCol="0">
            <a:spAutoFit/>
          </a:bodyPr>
          <a:p>
            <a:r>
              <a:rPr lang="zh-CN" altLang="en-US">
                <a:latin typeface="华文仿宋" panose="02010600040101010101" charset="-122"/>
                <a:ea typeface="华文仿宋" panose="02010600040101010101" charset="-122"/>
                <a:cs typeface="华文仿宋" panose="02010600040101010101" charset="-122"/>
              </a:rPr>
              <a:t>使用</a:t>
            </a:r>
            <a:r>
              <a:rPr lang="en-US" altLang="zh-CN">
                <a:latin typeface="华文仿宋" panose="02010600040101010101" charset="-122"/>
                <a:ea typeface="华文仿宋" panose="02010600040101010101" charset="-122"/>
                <a:cs typeface="华文仿宋" panose="02010600040101010101" charset="-122"/>
              </a:rPr>
              <a:t>per-flow split, </a:t>
            </a:r>
            <a:r>
              <a:rPr lang="zh-CN" altLang="en-US">
                <a:latin typeface="华文仿宋" panose="02010600040101010101" charset="-122"/>
                <a:ea typeface="华文仿宋" panose="02010600040101010101" charset="-122"/>
                <a:cs typeface="华文仿宋" panose="02010600040101010101" charset="-122"/>
              </a:rPr>
              <a:t>测试</a:t>
            </a:r>
            <a:r>
              <a:rPr lang="en-US" altLang="zh-CN">
                <a:latin typeface="华文仿宋" panose="02010600040101010101" charset="-122"/>
                <a:ea typeface="华文仿宋" panose="02010600040101010101" charset="-122"/>
                <a:cs typeface="华文仿宋" panose="02010600040101010101" charset="-122"/>
              </a:rPr>
              <a:t>frozen encoder </a:t>
            </a:r>
            <a:r>
              <a:rPr lang="zh-CN" altLang="en-US">
                <a:latin typeface="华文仿宋" panose="02010600040101010101" charset="-122"/>
                <a:ea typeface="华文仿宋" panose="02010600040101010101" charset="-122"/>
                <a:cs typeface="华文仿宋" panose="02010600040101010101" charset="-122"/>
              </a:rPr>
              <a:t>下的表示质量，协议头部信息远比加密载荷更有价值</a:t>
            </a:r>
            <a:endParaRPr lang="zh-CN" altLang="en-US">
              <a:latin typeface="华文仿宋" panose="02010600040101010101" charset="-122"/>
              <a:ea typeface="华文仿宋" panose="02010600040101010101" charset="-122"/>
              <a:cs typeface="华文仿宋" panose="02010600040101010101"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1093028"/>
            <a:ext cx="12192000" cy="4590660"/>
          </a:xfrm>
          <a:prstGeom prst="rect">
            <a:avLst/>
          </a:prstGeom>
        </p:spPr>
        <p:style>
          <a:lnRef idx="0">
            <a:srgbClr val="FFFFFF"/>
          </a:lnRef>
          <a:fillRef idx="1">
            <a:schemeClr val="accent1"/>
          </a:fillRef>
          <a:effectRef idx="0">
            <a:srgbClr val="FFFFFF"/>
          </a:effectRef>
          <a:fontRef idx="minor">
            <a:schemeClr val="lt1"/>
          </a:fontRef>
        </p:style>
        <p:txBody>
          <a:bodyPr rtlCol="0" anchor="ctr"/>
          <a:lstStyle/>
          <a:p>
            <a:pPr algn="ctr"/>
            <a:endParaRPr kumimoji="1" lang="zh-CN" altLang="en-US" dirty="0"/>
          </a:p>
        </p:txBody>
      </p:sp>
      <p:sp>
        <p:nvSpPr>
          <p:cNvPr id="8" name="文本框 7"/>
          <p:cNvSpPr txBox="1"/>
          <p:nvPr/>
        </p:nvSpPr>
        <p:spPr>
          <a:xfrm>
            <a:off x="1851025" y="3013710"/>
            <a:ext cx="8489950" cy="829945"/>
          </a:xfrm>
          <a:prstGeom prst="rect">
            <a:avLst/>
          </a:prstGeom>
          <a:noFill/>
        </p:spPr>
        <p:txBody>
          <a:bodyPr wrap="square" rtlCol="0">
            <a:spAutoFit/>
          </a:bodyPr>
          <a:lstStyle/>
          <a:p>
            <a:pPr algn="ctr"/>
            <a:r>
              <a:rPr kumimoji="1" lang="en-US" altLang="zh-CN" sz="4800" b="1" dirty="0">
                <a:solidFill>
                  <a:schemeClr val="bg1"/>
                </a:solidFill>
                <a:latin typeface="Comic Sans MS" panose="030F0702030302020204" pitchFamily="66" charset="0"/>
                <a:ea typeface="微软雅黑" panose="020B0503020204020204" charset="-122"/>
              </a:rPr>
              <a:t>Thank you for your time</a:t>
            </a:r>
            <a:endParaRPr kumimoji="1" lang="zh-CN" altLang="en-US" sz="4800" b="1" dirty="0">
              <a:solidFill>
                <a:schemeClr val="bg1"/>
              </a:solidFill>
              <a:latin typeface="Comic Sans MS" panose="030F0702030302020204" pitchFamily="66" charset="0"/>
              <a:ea typeface="微软雅黑" panose="020B0503020204020204" charset="-122"/>
            </a:endParaRPr>
          </a:p>
        </p:txBody>
      </p:sp>
      <p:sp>
        <p:nvSpPr>
          <p:cNvPr id="2" name="日期占位符 1"/>
          <p:cNvSpPr>
            <a:spLocks noGrp="1"/>
          </p:cNvSpPr>
          <p:nvPr>
            <p:ph type="dt" sz="half" idx="10"/>
          </p:nvPr>
        </p:nvSpPr>
        <p:spPr/>
        <p:txBody>
          <a:bodyPr/>
          <a:lstStyle/>
          <a:p>
            <a:endParaRPr kumimoji="1" lang="zh-CN" altLang="en-US"/>
          </a:p>
        </p:txBody>
      </p:sp>
      <p:sp>
        <p:nvSpPr>
          <p:cNvPr id="3" name="灯片编号占位符 2"/>
          <p:cNvSpPr>
            <a:spLocks noGrp="1"/>
          </p:cNvSpPr>
          <p:nvPr>
            <p:ph type="sldNum" sz="quarter" idx="12"/>
          </p:nvPr>
        </p:nvSpPr>
        <p:spPr/>
        <p:txBody>
          <a:bodyPr/>
          <a:lstStyle/>
          <a:p>
            <a:fld id="{390A5F7A-D5E9-BE4F-BC21-77E73E156432}"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DIAGRAM_VIRTUALLY_FRAME" val="{&quot;height&quot;:343.4,&quot;left&quot;:315.75,&quot;top&quot;:95.4,&quot;width&quot;:638.4}"/>
</p:tagLst>
</file>

<file path=ppt/tags/tag69.xml><?xml version="1.0" encoding="utf-8"?>
<p:tagLst xmlns:p="http://schemas.openxmlformats.org/presentationml/2006/main">
  <p:tag name="KSO_WM_DIAGRAM_VIRTUALLY_FRAME" val="{&quot;height&quot;:343.4,&quot;left&quot;:315.75,&quot;top&quot;:95.4,&quot;width&quot;:638.4}"/>
</p:tagLst>
</file>

<file path=ppt/tags/tag70.xml><?xml version="1.0" encoding="utf-8"?>
<p:tagLst xmlns:p="http://schemas.openxmlformats.org/presentationml/2006/main">
  <p:tag name="KSO_WM_DIAGRAM_VIRTUALLY_FRAME" val="{&quot;height&quot;:343.4,&quot;left&quot;:315.75,&quot;top&quot;:95.4,&quot;width&quot;:638.4}"/>
</p:tagLst>
</file>

<file path=ppt/tags/tag71.xml><?xml version="1.0" encoding="utf-8"?>
<p:tagLst xmlns:p="http://schemas.openxmlformats.org/presentationml/2006/main">
  <p:tag name="KSO_WM_DIAGRAM_VIRTUALLY_FRAME" val="{&quot;height&quot;:343.4,&quot;left&quot;:315.75,&quot;top&quot;:95.4,&quot;width&quot;:638.4}"/>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2443</Words>
  <Application>WPS 演示</Application>
  <PresentationFormat>宽屏</PresentationFormat>
  <Paragraphs>196</Paragraphs>
  <Slides>18</Slides>
  <Notes>4</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18</vt:i4>
      </vt:variant>
    </vt:vector>
  </HeadingPairs>
  <TitlesOfParts>
    <vt:vector size="37" baseType="lpstr">
      <vt:lpstr>Arial</vt:lpstr>
      <vt:lpstr>宋体</vt:lpstr>
      <vt:lpstr>Wingdings</vt:lpstr>
      <vt:lpstr>Wingdings</vt:lpstr>
      <vt:lpstr>Times New Roman Regular</vt:lpstr>
      <vt:lpstr>Times New Roman</vt:lpstr>
      <vt:lpstr>微软雅黑</vt:lpstr>
      <vt:lpstr>华文中宋</vt:lpstr>
      <vt:lpstr>Adobe 黑体 Std R</vt:lpstr>
      <vt:lpstr>华文仿宋</vt:lpstr>
      <vt:lpstr>Comic Sans MS</vt:lpstr>
      <vt:lpstr>Arial Unicode MS</vt:lpstr>
      <vt:lpstr>Calibri</vt:lpstr>
      <vt:lpstr>黑体</vt:lpstr>
      <vt:lpstr>Consolas</vt:lpstr>
      <vt:lpstr>Arial</vt:lpstr>
      <vt:lpstr>Calibri</vt:lpstr>
      <vt:lpstr>等线 Light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臻</cp:lastModifiedBy>
  <cp:revision>159</cp:revision>
  <dcterms:created xsi:type="dcterms:W3CDTF">2019-06-19T02:08:00Z</dcterms:created>
  <dcterms:modified xsi:type="dcterms:W3CDTF">2025-09-13T01:26:07Z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BC7B024722FA4933976B6F28F9A1DD43_11</vt:lpwstr>
  </property>
</Properties>
</file>